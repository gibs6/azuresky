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64" r:id="rId5"/>
    <p:sldId id="265" r:id="rId6"/>
    <p:sldId id="266" r:id="rId7"/>
    <p:sldId id="267" r:id="rId8"/>
    <p:sldId id="263" r:id="rId9"/>
  </p:sldIdLst>
  <p:sldSz cx="18288000" cy="10287000"/>
  <p:notesSz cx="6858000" cy="9144000"/>
  <p:embeddedFontLst>
    <p:embeddedFont>
      <p:font typeface="Arial Black" panose="020B0A04020102020204" pitchFamily="34" charset="0"/>
      <p:bold r:id="rId10"/>
    </p:embeddedFont>
    <p:embeddedFont>
      <p:font typeface="DM Sans" pitchFamily="2" charset="0"/>
      <p:regular r:id="rId11"/>
    </p:embeddedFont>
    <p:embeddedFont>
      <p:font typeface="DM Sans Bold"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5" d="100"/>
          <a:sy n="55" d="100"/>
        </p:scale>
        <p:origin x="658" y="27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86B360D-1E6B-4F47-BF88-AAF1001CD31C}"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ZA"/>
        </a:p>
      </dgm:t>
    </dgm:pt>
    <dgm:pt modelId="{0AE79977-A345-40A5-8E38-8000689EF165}">
      <dgm:prSet phldrT="[Text]" custT="1"/>
      <dgm:spPr/>
      <dgm:t>
        <a:bodyPr/>
        <a:lstStyle/>
        <a:p>
          <a:r>
            <a:rPr lang="en-ZA" sz="1200" baseline="0">
              <a:latin typeface="Arial Black" panose="020B0A04020102020204" pitchFamily="34" charset="0"/>
            </a:rPr>
            <a:t>Managing Director</a:t>
          </a:r>
        </a:p>
        <a:p>
          <a:r>
            <a:rPr lang="en-ZA" sz="1200" baseline="0">
              <a:latin typeface="Arial Black" panose="020B0A04020102020204" pitchFamily="34" charset="0"/>
            </a:rPr>
            <a:t>NP Msibi</a:t>
          </a:r>
        </a:p>
        <a:p>
          <a:r>
            <a:rPr lang="en-ZA" sz="1200" baseline="0">
              <a:latin typeface="Arial Black" panose="020B0A04020102020204" pitchFamily="34" charset="0"/>
            </a:rPr>
            <a:t>ND Analytical Chemistry &amp; BTech Quality</a:t>
          </a:r>
        </a:p>
      </dgm:t>
    </dgm:pt>
    <dgm:pt modelId="{87D02287-9AD2-4B7A-8C40-1238A5271B92}" type="parTrans" cxnId="{728492E7-8961-495D-A085-F5AF6FAEBCA4}">
      <dgm:prSet/>
      <dgm:spPr/>
      <dgm:t>
        <a:bodyPr/>
        <a:lstStyle/>
        <a:p>
          <a:endParaRPr lang="en-ZA"/>
        </a:p>
      </dgm:t>
    </dgm:pt>
    <dgm:pt modelId="{3CDC933F-175B-4DAC-AD5C-29006651DCFF}" type="sibTrans" cxnId="{728492E7-8961-495D-A085-F5AF6FAEBCA4}">
      <dgm:prSet/>
      <dgm:spPr/>
      <dgm:t>
        <a:bodyPr/>
        <a:lstStyle/>
        <a:p>
          <a:endParaRPr lang="en-ZA"/>
        </a:p>
      </dgm:t>
    </dgm:pt>
    <dgm:pt modelId="{8CC0359C-49B8-4456-9352-B39056FC1F14}">
      <dgm:prSet phldrT="[Text]" custT="1"/>
      <dgm:spPr/>
      <dgm:t>
        <a:bodyPr/>
        <a:lstStyle/>
        <a:p>
          <a:r>
            <a:rPr lang="en-ZA" sz="1200" baseline="0">
              <a:latin typeface="Arial Black" panose="020B0A04020102020204" pitchFamily="34" charset="0"/>
            </a:rPr>
            <a:t>Laboratory Manager</a:t>
          </a:r>
        </a:p>
        <a:p>
          <a:r>
            <a:rPr lang="en-ZA" sz="1200" baseline="0">
              <a:latin typeface="Arial Black" panose="020B0A04020102020204" pitchFamily="34" charset="0"/>
            </a:rPr>
            <a:t>SB Nyambi</a:t>
          </a:r>
        </a:p>
        <a:p>
          <a:r>
            <a:rPr lang="en-ZA" sz="1200" baseline="0">
              <a:latin typeface="Arial Black" panose="020B0A04020102020204" pitchFamily="34" charset="0"/>
            </a:rPr>
            <a:t>Advance Diploma Analytical Chemistry</a:t>
          </a:r>
        </a:p>
      </dgm:t>
    </dgm:pt>
    <dgm:pt modelId="{A6676616-E200-4A49-8BB7-EB324ABCCF99}" type="parTrans" cxnId="{988C1108-DD82-430F-9060-4186734DE7E5}">
      <dgm:prSet/>
      <dgm:spPr/>
      <dgm:t>
        <a:bodyPr/>
        <a:lstStyle/>
        <a:p>
          <a:endParaRPr lang="en-ZA"/>
        </a:p>
      </dgm:t>
    </dgm:pt>
    <dgm:pt modelId="{232EAFDD-4128-4C53-A7DC-0C8FA28DC6EA}" type="sibTrans" cxnId="{988C1108-DD82-430F-9060-4186734DE7E5}">
      <dgm:prSet/>
      <dgm:spPr/>
      <dgm:t>
        <a:bodyPr/>
        <a:lstStyle/>
        <a:p>
          <a:endParaRPr lang="en-ZA"/>
        </a:p>
      </dgm:t>
    </dgm:pt>
    <dgm:pt modelId="{3B124DA7-5378-4A0C-A4EA-D308F2F087D2}">
      <dgm:prSet phldrT="[Text]"/>
      <dgm:spPr/>
      <dgm:t>
        <a:bodyPr/>
        <a:lstStyle/>
        <a:p>
          <a:r>
            <a:rPr lang="en-ZA" baseline="0">
              <a:latin typeface="Arial Black" panose="020B0A04020102020204" pitchFamily="34" charset="0"/>
            </a:rPr>
            <a:t>Laboratory Analysts</a:t>
          </a:r>
        </a:p>
        <a:p>
          <a:r>
            <a:rPr lang="en-ZA" baseline="0">
              <a:latin typeface="Arial Black" panose="020B0A04020102020204" pitchFamily="34" charset="0"/>
            </a:rPr>
            <a:t>x4 - outsourced</a:t>
          </a:r>
        </a:p>
        <a:p>
          <a:r>
            <a:rPr lang="en-ZA" baseline="0">
              <a:latin typeface="Arial Black" panose="020B0A04020102020204" pitchFamily="34" charset="0"/>
            </a:rPr>
            <a:t>Semester 4 Analytical Chemistry</a:t>
          </a:r>
        </a:p>
        <a:p>
          <a:endParaRPr lang="en-ZA" baseline="0">
            <a:latin typeface="Arial Black" panose="020B0A04020102020204" pitchFamily="34" charset="0"/>
          </a:endParaRPr>
        </a:p>
      </dgm:t>
    </dgm:pt>
    <dgm:pt modelId="{EE461EC5-5E5A-4A41-A6E4-66FB075D5D79}" type="parTrans" cxnId="{E0C25217-80DF-486F-BF7B-EE34D0215E3E}">
      <dgm:prSet/>
      <dgm:spPr/>
      <dgm:t>
        <a:bodyPr/>
        <a:lstStyle/>
        <a:p>
          <a:endParaRPr lang="en-ZA"/>
        </a:p>
      </dgm:t>
    </dgm:pt>
    <dgm:pt modelId="{43738479-E34E-401C-AF3B-DA63FBDE718D}" type="sibTrans" cxnId="{E0C25217-80DF-486F-BF7B-EE34D0215E3E}">
      <dgm:prSet/>
      <dgm:spPr/>
      <dgm:t>
        <a:bodyPr/>
        <a:lstStyle/>
        <a:p>
          <a:endParaRPr lang="en-ZA"/>
        </a:p>
      </dgm:t>
    </dgm:pt>
    <dgm:pt modelId="{20E8CF1B-3E64-4112-9592-51E05E9B3C57}">
      <dgm:prSet phldrT="[Text]" custT="1"/>
      <dgm:spPr/>
      <dgm:t>
        <a:bodyPr/>
        <a:lstStyle/>
        <a:p>
          <a:r>
            <a:rPr lang="en-ZA" sz="1200">
              <a:latin typeface="Arial Black" panose="020B0A04020102020204" pitchFamily="34" charset="0"/>
            </a:rPr>
            <a:t>Laboratory Operator</a:t>
          </a:r>
        </a:p>
        <a:p>
          <a:r>
            <a:rPr lang="en-ZA" sz="1200">
              <a:latin typeface="Arial Black" panose="020B0A04020102020204" pitchFamily="34" charset="0"/>
            </a:rPr>
            <a:t>Mpho Serage</a:t>
          </a:r>
        </a:p>
        <a:p>
          <a:r>
            <a:rPr lang="en-ZA" sz="1200">
              <a:latin typeface="Arial Black" panose="020B0A04020102020204" pitchFamily="34" charset="0"/>
            </a:rPr>
            <a:t>(Grade 12 required)</a:t>
          </a:r>
        </a:p>
      </dgm:t>
    </dgm:pt>
    <dgm:pt modelId="{D7FEC81C-5051-4C84-A2C2-AFD9866BA47E}" type="parTrans" cxnId="{6EF3518A-6AEF-49E9-9331-6BCC275EFFE1}">
      <dgm:prSet/>
      <dgm:spPr/>
      <dgm:t>
        <a:bodyPr/>
        <a:lstStyle/>
        <a:p>
          <a:endParaRPr lang="en-ZA"/>
        </a:p>
      </dgm:t>
    </dgm:pt>
    <dgm:pt modelId="{85105321-4D5E-4105-AE6F-BAC257CB5FF5}" type="sibTrans" cxnId="{6EF3518A-6AEF-49E9-9331-6BCC275EFFE1}">
      <dgm:prSet/>
      <dgm:spPr/>
      <dgm:t>
        <a:bodyPr/>
        <a:lstStyle/>
        <a:p>
          <a:endParaRPr lang="en-ZA"/>
        </a:p>
      </dgm:t>
    </dgm:pt>
    <dgm:pt modelId="{042209E8-AF86-47EB-BAA2-5BCA4E119F23}">
      <dgm:prSet phldrT="[Text]" custT="1"/>
      <dgm:spPr/>
      <dgm:t>
        <a:bodyPr/>
        <a:lstStyle/>
        <a:p>
          <a:r>
            <a:rPr lang="en-ZA" sz="1200">
              <a:latin typeface="Arial Black" panose="020B0A04020102020204" pitchFamily="34" charset="0"/>
            </a:rPr>
            <a:t>Outsourced functions</a:t>
          </a:r>
        </a:p>
        <a:p>
          <a:r>
            <a:rPr lang="en-ZA" sz="1200">
              <a:latin typeface="Arial Black" panose="020B0A04020102020204" pitchFamily="34" charset="0"/>
            </a:rPr>
            <a:t>HR &amp; Bookkeeping</a:t>
          </a:r>
        </a:p>
      </dgm:t>
    </dgm:pt>
    <dgm:pt modelId="{7C73599D-BF15-4249-9439-C9E7DDF0E70F}" type="parTrans" cxnId="{34286C35-E6B1-4CA1-AD52-28A757199E33}">
      <dgm:prSet/>
      <dgm:spPr/>
      <dgm:t>
        <a:bodyPr/>
        <a:lstStyle/>
        <a:p>
          <a:endParaRPr lang="en-ZA"/>
        </a:p>
      </dgm:t>
    </dgm:pt>
    <dgm:pt modelId="{0CCE37D2-C356-4000-9F36-C26655FB289D}" type="sibTrans" cxnId="{34286C35-E6B1-4CA1-AD52-28A757199E33}">
      <dgm:prSet/>
      <dgm:spPr/>
      <dgm:t>
        <a:bodyPr/>
        <a:lstStyle/>
        <a:p>
          <a:endParaRPr lang="en-ZA"/>
        </a:p>
      </dgm:t>
    </dgm:pt>
    <dgm:pt modelId="{B059C423-B7FF-46FC-9A15-8A50049F3048}">
      <dgm:prSet custT="1"/>
      <dgm:spPr/>
      <dgm:t>
        <a:bodyPr/>
        <a:lstStyle/>
        <a:p>
          <a:r>
            <a:rPr lang="en-ZA" sz="1200" baseline="0">
              <a:latin typeface="Arial Black" panose="020B0A04020102020204" pitchFamily="34" charset="0"/>
            </a:rPr>
            <a:t>Laboratory Supervisor</a:t>
          </a:r>
        </a:p>
        <a:p>
          <a:r>
            <a:rPr lang="en-ZA" sz="1200" baseline="0">
              <a:latin typeface="Arial Black" panose="020B0A04020102020204" pitchFamily="34" charset="0"/>
            </a:rPr>
            <a:t>Tshepo M Maponya</a:t>
          </a:r>
        </a:p>
        <a:p>
          <a:r>
            <a:rPr lang="en-ZA" sz="1200" baseline="0">
              <a:latin typeface="Arial Black" panose="020B0A04020102020204" pitchFamily="34" charset="0"/>
            </a:rPr>
            <a:t>Diploma Analytical Chemistry</a:t>
          </a:r>
        </a:p>
      </dgm:t>
    </dgm:pt>
    <dgm:pt modelId="{17015750-9AC3-4C08-A1CC-C91544B33D67}" type="parTrans" cxnId="{E2EB80FC-2BC2-430E-99EB-89F0497A8440}">
      <dgm:prSet/>
      <dgm:spPr/>
      <dgm:t>
        <a:bodyPr/>
        <a:lstStyle/>
        <a:p>
          <a:endParaRPr lang="en-ZA"/>
        </a:p>
      </dgm:t>
    </dgm:pt>
    <dgm:pt modelId="{B406AACC-7B8B-4C06-83C5-E9A75B28A17B}" type="sibTrans" cxnId="{E2EB80FC-2BC2-430E-99EB-89F0497A8440}">
      <dgm:prSet/>
      <dgm:spPr/>
      <dgm:t>
        <a:bodyPr/>
        <a:lstStyle/>
        <a:p>
          <a:endParaRPr lang="en-ZA"/>
        </a:p>
      </dgm:t>
    </dgm:pt>
    <dgm:pt modelId="{F849DE38-F63F-4FB1-99DD-B2602BDC63EA}" type="pres">
      <dgm:prSet presAssocID="{C86B360D-1E6B-4F47-BF88-AAF1001CD31C}" presName="diagram" presStyleCnt="0">
        <dgm:presLayoutVars>
          <dgm:chPref val="1"/>
          <dgm:dir/>
          <dgm:animOne val="branch"/>
          <dgm:animLvl val="lvl"/>
          <dgm:resizeHandles val="exact"/>
        </dgm:presLayoutVars>
      </dgm:prSet>
      <dgm:spPr/>
    </dgm:pt>
    <dgm:pt modelId="{9DB568D7-9CAB-4D07-85CA-2606AFE213EF}" type="pres">
      <dgm:prSet presAssocID="{0AE79977-A345-40A5-8E38-8000689EF165}" presName="root1" presStyleCnt="0"/>
      <dgm:spPr/>
    </dgm:pt>
    <dgm:pt modelId="{B78D628A-3677-4883-AD54-C51289782007}" type="pres">
      <dgm:prSet presAssocID="{0AE79977-A345-40A5-8E38-8000689EF165}" presName="LevelOneTextNode" presStyleLbl="node0" presStyleIdx="0" presStyleCnt="1" custScaleY="161139">
        <dgm:presLayoutVars>
          <dgm:chPref val="3"/>
        </dgm:presLayoutVars>
      </dgm:prSet>
      <dgm:spPr/>
    </dgm:pt>
    <dgm:pt modelId="{552CB9EC-0411-41BC-B8A3-6D70268E56EC}" type="pres">
      <dgm:prSet presAssocID="{0AE79977-A345-40A5-8E38-8000689EF165}" presName="level2hierChild" presStyleCnt="0"/>
      <dgm:spPr/>
    </dgm:pt>
    <dgm:pt modelId="{8289B52A-DD4B-4AC4-8951-3E8CF65E7EFD}" type="pres">
      <dgm:prSet presAssocID="{A6676616-E200-4A49-8BB7-EB324ABCCF99}" presName="conn2-1" presStyleLbl="parChTrans1D2" presStyleIdx="0" presStyleCnt="2"/>
      <dgm:spPr/>
    </dgm:pt>
    <dgm:pt modelId="{93A927E2-A020-432E-93DB-559810D32881}" type="pres">
      <dgm:prSet presAssocID="{A6676616-E200-4A49-8BB7-EB324ABCCF99}" presName="connTx" presStyleLbl="parChTrans1D2" presStyleIdx="0" presStyleCnt="2"/>
      <dgm:spPr/>
    </dgm:pt>
    <dgm:pt modelId="{76810A1B-B798-4D4E-BE0B-BE813A952FFA}" type="pres">
      <dgm:prSet presAssocID="{8CC0359C-49B8-4456-9352-B39056FC1F14}" presName="root2" presStyleCnt="0"/>
      <dgm:spPr/>
    </dgm:pt>
    <dgm:pt modelId="{79A1DEEA-D900-460C-A68B-351A46AB3238}" type="pres">
      <dgm:prSet presAssocID="{8CC0359C-49B8-4456-9352-B39056FC1F14}" presName="LevelTwoTextNode" presStyleLbl="node2" presStyleIdx="0" presStyleCnt="2" custScaleY="169701">
        <dgm:presLayoutVars>
          <dgm:chPref val="3"/>
        </dgm:presLayoutVars>
      </dgm:prSet>
      <dgm:spPr/>
    </dgm:pt>
    <dgm:pt modelId="{34648838-3B7D-490F-8DFE-BCFF4C00B659}" type="pres">
      <dgm:prSet presAssocID="{8CC0359C-49B8-4456-9352-B39056FC1F14}" presName="level3hierChild" presStyleCnt="0"/>
      <dgm:spPr/>
    </dgm:pt>
    <dgm:pt modelId="{B542ADC4-5560-48E9-8203-F67E984E4195}" type="pres">
      <dgm:prSet presAssocID="{17015750-9AC3-4C08-A1CC-C91544B33D67}" presName="conn2-1" presStyleLbl="parChTrans1D3" presStyleIdx="0" presStyleCnt="2"/>
      <dgm:spPr/>
    </dgm:pt>
    <dgm:pt modelId="{C891654F-573C-4A73-83AF-D876114240B2}" type="pres">
      <dgm:prSet presAssocID="{17015750-9AC3-4C08-A1CC-C91544B33D67}" presName="connTx" presStyleLbl="parChTrans1D3" presStyleIdx="0" presStyleCnt="2"/>
      <dgm:spPr/>
    </dgm:pt>
    <dgm:pt modelId="{623DF7F6-DC9E-45F0-BD03-7405832BBA69}" type="pres">
      <dgm:prSet presAssocID="{B059C423-B7FF-46FC-9A15-8A50049F3048}" presName="root2" presStyleCnt="0"/>
      <dgm:spPr/>
    </dgm:pt>
    <dgm:pt modelId="{2A7B7F19-BF72-4BF4-B918-8EBB9A25DBF3}" type="pres">
      <dgm:prSet presAssocID="{B059C423-B7FF-46FC-9A15-8A50049F3048}" presName="LevelTwoTextNode" presStyleLbl="node3" presStyleIdx="0" presStyleCnt="2" custScaleY="144320">
        <dgm:presLayoutVars>
          <dgm:chPref val="3"/>
        </dgm:presLayoutVars>
      </dgm:prSet>
      <dgm:spPr/>
    </dgm:pt>
    <dgm:pt modelId="{4246C7AB-E3C1-495C-94ED-707B709D093A}" type="pres">
      <dgm:prSet presAssocID="{B059C423-B7FF-46FC-9A15-8A50049F3048}" presName="level3hierChild" presStyleCnt="0"/>
      <dgm:spPr/>
    </dgm:pt>
    <dgm:pt modelId="{FC7669DF-052F-42E7-B784-5D0EB5229CD5}" type="pres">
      <dgm:prSet presAssocID="{EE461EC5-5E5A-4A41-A6E4-66FB075D5D79}" presName="conn2-1" presStyleLbl="parChTrans1D4" presStyleIdx="0" presStyleCnt="1"/>
      <dgm:spPr/>
    </dgm:pt>
    <dgm:pt modelId="{37ACA5C5-704C-4174-A817-EC404B1206A7}" type="pres">
      <dgm:prSet presAssocID="{EE461EC5-5E5A-4A41-A6E4-66FB075D5D79}" presName="connTx" presStyleLbl="parChTrans1D4" presStyleIdx="0" presStyleCnt="1"/>
      <dgm:spPr/>
    </dgm:pt>
    <dgm:pt modelId="{ACFEF554-CF8A-4FC2-8A4A-CD986DFA3F6A}" type="pres">
      <dgm:prSet presAssocID="{3B124DA7-5378-4A0C-A4EA-D308F2F087D2}" presName="root2" presStyleCnt="0"/>
      <dgm:spPr/>
    </dgm:pt>
    <dgm:pt modelId="{7B433C7C-334C-4836-AE48-FAA2FC911EDB}" type="pres">
      <dgm:prSet presAssocID="{3B124DA7-5378-4A0C-A4EA-D308F2F087D2}" presName="LevelTwoTextNode" presStyleLbl="node4" presStyleIdx="0" presStyleCnt="1" custScaleY="191371">
        <dgm:presLayoutVars>
          <dgm:chPref val="3"/>
        </dgm:presLayoutVars>
      </dgm:prSet>
      <dgm:spPr/>
    </dgm:pt>
    <dgm:pt modelId="{7A6C0E31-B506-4CCD-9A00-A2C094576766}" type="pres">
      <dgm:prSet presAssocID="{3B124DA7-5378-4A0C-A4EA-D308F2F087D2}" presName="level3hierChild" presStyleCnt="0"/>
      <dgm:spPr/>
    </dgm:pt>
    <dgm:pt modelId="{891990AA-8B9F-436D-B7CF-DA2F3A7EBEBF}" type="pres">
      <dgm:prSet presAssocID="{D7FEC81C-5051-4C84-A2C2-AFD9866BA47E}" presName="conn2-1" presStyleLbl="parChTrans1D3" presStyleIdx="1" presStyleCnt="2"/>
      <dgm:spPr/>
    </dgm:pt>
    <dgm:pt modelId="{1D82C1E5-B319-4347-82CA-CDB70FD2E589}" type="pres">
      <dgm:prSet presAssocID="{D7FEC81C-5051-4C84-A2C2-AFD9866BA47E}" presName="connTx" presStyleLbl="parChTrans1D3" presStyleIdx="1" presStyleCnt="2"/>
      <dgm:spPr/>
    </dgm:pt>
    <dgm:pt modelId="{73AA7203-EE57-42B6-96F6-92CD5D23BE50}" type="pres">
      <dgm:prSet presAssocID="{20E8CF1B-3E64-4112-9592-51E05E9B3C57}" presName="root2" presStyleCnt="0"/>
      <dgm:spPr/>
    </dgm:pt>
    <dgm:pt modelId="{E49E12E8-63B0-4E2C-A7F2-4C40A2F70755}" type="pres">
      <dgm:prSet presAssocID="{20E8CF1B-3E64-4112-9592-51E05E9B3C57}" presName="LevelTwoTextNode" presStyleLbl="node3" presStyleIdx="1" presStyleCnt="2" custScaleY="132621" custLinFactNeighborX="-352" custLinFactNeighborY="705">
        <dgm:presLayoutVars>
          <dgm:chPref val="3"/>
        </dgm:presLayoutVars>
      </dgm:prSet>
      <dgm:spPr/>
    </dgm:pt>
    <dgm:pt modelId="{ABCC1ADE-4FF4-4969-9A8E-88916DE64145}" type="pres">
      <dgm:prSet presAssocID="{20E8CF1B-3E64-4112-9592-51E05E9B3C57}" presName="level3hierChild" presStyleCnt="0"/>
      <dgm:spPr/>
    </dgm:pt>
    <dgm:pt modelId="{70880C03-D875-4016-9753-BDAEB4491E7C}" type="pres">
      <dgm:prSet presAssocID="{7C73599D-BF15-4249-9439-C9E7DDF0E70F}" presName="conn2-1" presStyleLbl="parChTrans1D2" presStyleIdx="1" presStyleCnt="2"/>
      <dgm:spPr/>
    </dgm:pt>
    <dgm:pt modelId="{1BC5BB4B-2BE7-4648-AE37-378226245F6B}" type="pres">
      <dgm:prSet presAssocID="{7C73599D-BF15-4249-9439-C9E7DDF0E70F}" presName="connTx" presStyleLbl="parChTrans1D2" presStyleIdx="1" presStyleCnt="2"/>
      <dgm:spPr/>
    </dgm:pt>
    <dgm:pt modelId="{A71AEF99-6235-40FE-B4BB-8E35237A5F41}" type="pres">
      <dgm:prSet presAssocID="{042209E8-AF86-47EB-BAA2-5BCA4E119F23}" presName="root2" presStyleCnt="0"/>
      <dgm:spPr/>
    </dgm:pt>
    <dgm:pt modelId="{E4A5BEB7-0FBD-4F3E-9C03-E112903BBC8A}" type="pres">
      <dgm:prSet presAssocID="{042209E8-AF86-47EB-BAA2-5BCA4E119F23}" presName="LevelTwoTextNode" presStyleLbl="node2" presStyleIdx="1" presStyleCnt="2" custScaleY="151024">
        <dgm:presLayoutVars>
          <dgm:chPref val="3"/>
        </dgm:presLayoutVars>
      </dgm:prSet>
      <dgm:spPr/>
    </dgm:pt>
    <dgm:pt modelId="{03750BBF-DEA8-495A-8069-E7351765EEBA}" type="pres">
      <dgm:prSet presAssocID="{042209E8-AF86-47EB-BAA2-5BCA4E119F23}" presName="level3hierChild" presStyleCnt="0"/>
      <dgm:spPr/>
    </dgm:pt>
  </dgm:ptLst>
  <dgm:cxnLst>
    <dgm:cxn modelId="{988C1108-DD82-430F-9060-4186734DE7E5}" srcId="{0AE79977-A345-40A5-8E38-8000689EF165}" destId="{8CC0359C-49B8-4456-9352-B39056FC1F14}" srcOrd="0" destOrd="0" parTransId="{A6676616-E200-4A49-8BB7-EB324ABCCF99}" sibTransId="{232EAFDD-4128-4C53-A7DC-0C8FA28DC6EA}"/>
    <dgm:cxn modelId="{E0C25217-80DF-486F-BF7B-EE34D0215E3E}" srcId="{B059C423-B7FF-46FC-9A15-8A50049F3048}" destId="{3B124DA7-5378-4A0C-A4EA-D308F2F087D2}" srcOrd="0" destOrd="0" parTransId="{EE461EC5-5E5A-4A41-A6E4-66FB075D5D79}" sibTransId="{43738479-E34E-401C-AF3B-DA63FBDE718D}"/>
    <dgm:cxn modelId="{6E1DDD27-FA88-46D1-80EF-1B6F24045A33}" type="presOf" srcId="{8CC0359C-49B8-4456-9352-B39056FC1F14}" destId="{79A1DEEA-D900-460C-A68B-351A46AB3238}" srcOrd="0" destOrd="0" presId="urn:microsoft.com/office/officeart/2005/8/layout/hierarchy2"/>
    <dgm:cxn modelId="{34286C35-E6B1-4CA1-AD52-28A757199E33}" srcId="{0AE79977-A345-40A5-8E38-8000689EF165}" destId="{042209E8-AF86-47EB-BAA2-5BCA4E119F23}" srcOrd="1" destOrd="0" parTransId="{7C73599D-BF15-4249-9439-C9E7DDF0E70F}" sibTransId="{0CCE37D2-C356-4000-9F36-C26655FB289D}"/>
    <dgm:cxn modelId="{08539340-B9A2-42E4-8179-23D83FBB89E8}" type="presOf" srcId="{EE461EC5-5E5A-4A41-A6E4-66FB075D5D79}" destId="{37ACA5C5-704C-4174-A817-EC404B1206A7}" srcOrd="1" destOrd="0" presId="urn:microsoft.com/office/officeart/2005/8/layout/hierarchy2"/>
    <dgm:cxn modelId="{EF1B0C51-CF14-45BF-9AC2-16DD90ED33AE}" type="presOf" srcId="{3B124DA7-5378-4A0C-A4EA-D308F2F087D2}" destId="{7B433C7C-334C-4836-AE48-FAA2FC911EDB}" srcOrd="0" destOrd="0" presId="urn:microsoft.com/office/officeart/2005/8/layout/hierarchy2"/>
    <dgm:cxn modelId="{0100317C-5DB1-4445-81E1-FAEC8E181453}" type="presOf" srcId="{17015750-9AC3-4C08-A1CC-C91544B33D67}" destId="{B542ADC4-5560-48E9-8203-F67E984E4195}" srcOrd="0" destOrd="0" presId="urn:microsoft.com/office/officeart/2005/8/layout/hierarchy2"/>
    <dgm:cxn modelId="{6EF3518A-6AEF-49E9-9331-6BCC275EFFE1}" srcId="{8CC0359C-49B8-4456-9352-B39056FC1F14}" destId="{20E8CF1B-3E64-4112-9592-51E05E9B3C57}" srcOrd="1" destOrd="0" parTransId="{D7FEC81C-5051-4C84-A2C2-AFD9866BA47E}" sibTransId="{85105321-4D5E-4105-AE6F-BAC257CB5FF5}"/>
    <dgm:cxn modelId="{23AF9890-C170-4E58-BBB3-83C08F501101}" type="presOf" srcId="{A6676616-E200-4A49-8BB7-EB324ABCCF99}" destId="{93A927E2-A020-432E-93DB-559810D32881}" srcOrd="1" destOrd="0" presId="urn:microsoft.com/office/officeart/2005/8/layout/hierarchy2"/>
    <dgm:cxn modelId="{F25F1E92-37B3-4B33-A12B-00D195365C35}" type="presOf" srcId="{A6676616-E200-4A49-8BB7-EB324ABCCF99}" destId="{8289B52A-DD4B-4AC4-8951-3E8CF65E7EFD}" srcOrd="0" destOrd="0" presId="urn:microsoft.com/office/officeart/2005/8/layout/hierarchy2"/>
    <dgm:cxn modelId="{2878AC95-835D-413B-84F9-B7D206A0496D}" type="presOf" srcId="{EE461EC5-5E5A-4A41-A6E4-66FB075D5D79}" destId="{FC7669DF-052F-42E7-B784-5D0EB5229CD5}" srcOrd="0" destOrd="0" presId="urn:microsoft.com/office/officeart/2005/8/layout/hierarchy2"/>
    <dgm:cxn modelId="{22F24299-A7D1-4BEB-819B-5217F02BC19C}" type="presOf" srcId="{7C73599D-BF15-4249-9439-C9E7DDF0E70F}" destId="{70880C03-D875-4016-9753-BDAEB4491E7C}" srcOrd="0" destOrd="0" presId="urn:microsoft.com/office/officeart/2005/8/layout/hierarchy2"/>
    <dgm:cxn modelId="{A2001D9D-E195-4D7F-850C-CED30BEF8E7F}" type="presOf" srcId="{20E8CF1B-3E64-4112-9592-51E05E9B3C57}" destId="{E49E12E8-63B0-4E2C-A7F2-4C40A2F70755}" srcOrd="0" destOrd="0" presId="urn:microsoft.com/office/officeart/2005/8/layout/hierarchy2"/>
    <dgm:cxn modelId="{45DB69A6-E649-42B5-893F-71F758C20BDF}" type="presOf" srcId="{C86B360D-1E6B-4F47-BF88-AAF1001CD31C}" destId="{F849DE38-F63F-4FB1-99DD-B2602BDC63EA}" srcOrd="0" destOrd="0" presId="urn:microsoft.com/office/officeart/2005/8/layout/hierarchy2"/>
    <dgm:cxn modelId="{52B703B6-DA03-44D9-8517-9AB641B1DB46}" type="presOf" srcId="{D7FEC81C-5051-4C84-A2C2-AFD9866BA47E}" destId="{1D82C1E5-B319-4347-82CA-CDB70FD2E589}" srcOrd="1" destOrd="0" presId="urn:microsoft.com/office/officeart/2005/8/layout/hierarchy2"/>
    <dgm:cxn modelId="{90697EBA-B2F8-4F35-AC6C-B1DD14EA37F7}" type="presOf" srcId="{B059C423-B7FF-46FC-9A15-8A50049F3048}" destId="{2A7B7F19-BF72-4BF4-B918-8EBB9A25DBF3}" srcOrd="0" destOrd="0" presId="urn:microsoft.com/office/officeart/2005/8/layout/hierarchy2"/>
    <dgm:cxn modelId="{6D26A0BA-7442-4314-BDF4-B5CE95F72F41}" type="presOf" srcId="{D7FEC81C-5051-4C84-A2C2-AFD9866BA47E}" destId="{891990AA-8B9F-436D-B7CF-DA2F3A7EBEBF}" srcOrd="0" destOrd="0" presId="urn:microsoft.com/office/officeart/2005/8/layout/hierarchy2"/>
    <dgm:cxn modelId="{04B96ABD-82AE-4B92-AE04-A4FD927F0863}" type="presOf" srcId="{7C73599D-BF15-4249-9439-C9E7DDF0E70F}" destId="{1BC5BB4B-2BE7-4648-AE37-378226245F6B}" srcOrd="1" destOrd="0" presId="urn:microsoft.com/office/officeart/2005/8/layout/hierarchy2"/>
    <dgm:cxn modelId="{5C30FBDC-E2EB-4B42-AE21-4D7826CD2AFD}" type="presOf" srcId="{042209E8-AF86-47EB-BAA2-5BCA4E119F23}" destId="{E4A5BEB7-0FBD-4F3E-9C03-E112903BBC8A}" srcOrd="0" destOrd="0" presId="urn:microsoft.com/office/officeart/2005/8/layout/hierarchy2"/>
    <dgm:cxn modelId="{728492E7-8961-495D-A085-F5AF6FAEBCA4}" srcId="{C86B360D-1E6B-4F47-BF88-AAF1001CD31C}" destId="{0AE79977-A345-40A5-8E38-8000689EF165}" srcOrd="0" destOrd="0" parTransId="{87D02287-9AD2-4B7A-8C40-1238A5271B92}" sibTransId="{3CDC933F-175B-4DAC-AD5C-29006651DCFF}"/>
    <dgm:cxn modelId="{04CFCAEB-9032-49A9-8C2A-43D584FC4D51}" type="presOf" srcId="{0AE79977-A345-40A5-8E38-8000689EF165}" destId="{B78D628A-3677-4883-AD54-C51289782007}" srcOrd="0" destOrd="0" presId="urn:microsoft.com/office/officeart/2005/8/layout/hierarchy2"/>
    <dgm:cxn modelId="{410F1BFB-3C89-4BE5-8FCB-4E68D05F6659}" type="presOf" srcId="{17015750-9AC3-4C08-A1CC-C91544B33D67}" destId="{C891654F-573C-4A73-83AF-D876114240B2}" srcOrd="1" destOrd="0" presId="urn:microsoft.com/office/officeart/2005/8/layout/hierarchy2"/>
    <dgm:cxn modelId="{E2EB80FC-2BC2-430E-99EB-89F0497A8440}" srcId="{8CC0359C-49B8-4456-9352-B39056FC1F14}" destId="{B059C423-B7FF-46FC-9A15-8A50049F3048}" srcOrd="0" destOrd="0" parTransId="{17015750-9AC3-4C08-A1CC-C91544B33D67}" sibTransId="{B406AACC-7B8B-4C06-83C5-E9A75B28A17B}"/>
    <dgm:cxn modelId="{CB33D51E-C2B3-4B57-916F-1013673EB4E3}" type="presParOf" srcId="{F849DE38-F63F-4FB1-99DD-B2602BDC63EA}" destId="{9DB568D7-9CAB-4D07-85CA-2606AFE213EF}" srcOrd="0" destOrd="0" presId="urn:microsoft.com/office/officeart/2005/8/layout/hierarchy2"/>
    <dgm:cxn modelId="{A723382D-0FB1-404C-9188-A565EECB4FA1}" type="presParOf" srcId="{9DB568D7-9CAB-4D07-85CA-2606AFE213EF}" destId="{B78D628A-3677-4883-AD54-C51289782007}" srcOrd="0" destOrd="0" presId="urn:microsoft.com/office/officeart/2005/8/layout/hierarchy2"/>
    <dgm:cxn modelId="{5CBA5EA5-2A57-426D-B98E-F6103CC42F21}" type="presParOf" srcId="{9DB568D7-9CAB-4D07-85CA-2606AFE213EF}" destId="{552CB9EC-0411-41BC-B8A3-6D70268E56EC}" srcOrd="1" destOrd="0" presId="urn:microsoft.com/office/officeart/2005/8/layout/hierarchy2"/>
    <dgm:cxn modelId="{03B37BE9-2E9E-4E99-B686-C1E5A733FF14}" type="presParOf" srcId="{552CB9EC-0411-41BC-B8A3-6D70268E56EC}" destId="{8289B52A-DD4B-4AC4-8951-3E8CF65E7EFD}" srcOrd="0" destOrd="0" presId="urn:microsoft.com/office/officeart/2005/8/layout/hierarchy2"/>
    <dgm:cxn modelId="{4A3440FB-B9F3-4E78-B27B-7FE63F8CD005}" type="presParOf" srcId="{8289B52A-DD4B-4AC4-8951-3E8CF65E7EFD}" destId="{93A927E2-A020-432E-93DB-559810D32881}" srcOrd="0" destOrd="0" presId="urn:microsoft.com/office/officeart/2005/8/layout/hierarchy2"/>
    <dgm:cxn modelId="{CBD13DB1-0E9F-410B-A67E-ED5ABFA8BA1C}" type="presParOf" srcId="{552CB9EC-0411-41BC-B8A3-6D70268E56EC}" destId="{76810A1B-B798-4D4E-BE0B-BE813A952FFA}" srcOrd="1" destOrd="0" presId="urn:microsoft.com/office/officeart/2005/8/layout/hierarchy2"/>
    <dgm:cxn modelId="{03D3DB39-91CE-48CF-9A46-0F064DBE225D}" type="presParOf" srcId="{76810A1B-B798-4D4E-BE0B-BE813A952FFA}" destId="{79A1DEEA-D900-460C-A68B-351A46AB3238}" srcOrd="0" destOrd="0" presId="urn:microsoft.com/office/officeart/2005/8/layout/hierarchy2"/>
    <dgm:cxn modelId="{F294EEBF-FAF3-4973-B208-46C4CD6FF468}" type="presParOf" srcId="{76810A1B-B798-4D4E-BE0B-BE813A952FFA}" destId="{34648838-3B7D-490F-8DFE-BCFF4C00B659}" srcOrd="1" destOrd="0" presId="urn:microsoft.com/office/officeart/2005/8/layout/hierarchy2"/>
    <dgm:cxn modelId="{171859B2-4FA1-473D-8CCE-DC1411DA8C88}" type="presParOf" srcId="{34648838-3B7D-490F-8DFE-BCFF4C00B659}" destId="{B542ADC4-5560-48E9-8203-F67E984E4195}" srcOrd="0" destOrd="0" presId="urn:microsoft.com/office/officeart/2005/8/layout/hierarchy2"/>
    <dgm:cxn modelId="{340928D5-BC6F-4C23-838F-54A2DA80748A}" type="presParOf" srcId="{B542ADC4-5560-48E9-8203-F67E984E4195}" destId="{C891654F-573C-4A73-83AF-D876114240B2}" srcOrd="0" destOrd="0" presId="urn:microsoft.com/office/officeart/2005/8/layout/hierarchy2"/>
    <dgm:cxn modelId="{012C982D-88B5-4E42-8F3A-0F27A78A8FC9}" type="presParOf" srcId="{34648838-3B7D-490F-8DFE-BCFF4C00B659}" destId="{623DF7F6-DC9E-45F0-BD03-7405832BBA69}" srcOrd="1" destOrd="0" presId="urn:microsoft.com/office/officeart/2005/8/layout/hierarchy2"/>
    <dgm:cxn modelId="{3C00F79E-C3B3-4E2C-B0E1-04CBD8DAFB3A}" type="presParOf" srcId="{623DF7F6-DC9E-45F0-BD03-7405832BBA69}" destId="{2A7B7F19-BF72-4BF4-B918-8EBB9A25DBF3}" srcOrd="0" destOrd="0" presId="urn:microsoft.com/office/officeart/2005/8/layout/hierarchy2"/>
    <dgm:cxn modelId="{7404DD8E-50B4-4619-AAA6-8A7A387E9A08}" type="presParOf" srcId="{623DF7F6-DC9E-45F0-BD03-7405832BBA69}" destId="{4246C7AB-E3C1-495C-94ED-707B709D093A}" srcOrd="1" destOrd="0" presId="urn:microsoft.com/office/officeart/2005/8/layout/hierarchy2"/>
    <dgm:cxn modelId="{04F75800-FAD3-4206-AE17-82D3DBEA04BE}" type="presParOf" srcId="{4246C7AB-E3C1-495C-94ED-707B709D093A}" destId="{FC7669DF-052F-42E7-B784-5D0EB5229CD5}" srcOrd="0" destOrd="0" presId="urn:microsoft.com/office/officeart/2005/8/layout/hierarchy2"/>
    <dgm:cxn modelId="{C0063158-0A4A-4A98-9116-FF60C26231B5}" type="presParOf" srcId="{FC7669DF-052F-42E7-B784-5D0EB5229CD5}" destId="{37ACA5C5-704C-4174-A817-EC404B1206A7}" srcOrd="0" destOrd="0" presId="urn:microsoft.com/office/officeart/2005/8/layout/hierarchy2"/>
    <dgm:cxn modelId="{A5F6F5ED-6524-43B3-AE9C-7B5FA1DBE3FC}" type="presParOf" srcId="{4246C7AB-E3C1-495C-94ED-707B709D093A}" destId="{ACFEF554-CF8A-4FC2-8A4A-CD986DFA3F6A}" srcOrd="1" destOrd="0" presId="urn:microsoft.com/office/officeart/2005/8/layout/hierarchy2"/>
    <dgm:cxn modelId="{0032B98B-6716-486E-A1B2-C787C78404DE}" type="presParOf" srcId="{ACFEF554-CF8A-4FC2-8A4A-CD986DFA3F6A}" destId="{7B433C7C-334C-4836-AE48-FAA2FC911EDB}" srcOrd="0" destOrd="0" presId="urn:microsoft.com/office/officeart/2005/8/layout/hierarchy2"/>
    <dgm:cxn modelId="{76A4699F-47FC-45D3-B76D-4519418018F9}" type="presParOf" srcId="{ACFEF554-CF8A-4FC2-8A4A-CD986DFA3F6A}" destId="{7A6C0E31-B506-4CCD-9A00-A2C094576766}" srcOrd="1" destOrd="0" presId="urn:microsoft.com/office/officeart/2005/8/layout/hierarchy2"/>
    <dgm:cxn modelId="{C629739A-5BD3-46CC-98DE-C8C01AD7B6FB}" type="presParOf" srcId="{34648838-3B7D-490F-8DFE-BCFF4C00B659}" destId="{891990AA-8B9F-436D-B7CF-DA2F3A7EBEBF}" srcOrd="2" destOrd="0" presId="urn:microsoft.com/office/officeart/2005/8/layout/hierarchy2"/>
    <dgm:cxn modelId="{19FC3E33-AC50-4805-AF75-60A29CB877DB}" type="presParOf" srcId="{891990AA-8B9F-436D-B7CF-DA2F3A7EBEBF}" destId="{1D82C1E5-B319-4347-82CA-CDB70FD2E589}" srcOrd="0" destOrd="0" presId="urn:microsoft.com/office/officeart/2005/8/layout/hierarchy2"/>
    <dgm:cxn modelId="{5925E542-3FC5-4F5A-8DA0-AC710B897DA0}" type="presParOf" srcId="{34648838-3B7D-490F-8DFE-BCFF4C00B659}" destId="{73AA7203-EE57-42B6-96F6-92CD5D23BE50}" srcOrd="3" destOrd="0" presId="urn:microsoft.com/office/officeart/2005/8/layout/hierarchy2"/>
    <dgm:cxn modelId="{0AC5A925-0AC4-4D7B-A709-B67ED2057F4A}" type="presParOf" srcId="{73AA7203-EE57-42B6-96F6-92CD5D23BE50}" destId="{E49E12E8-63B0-4E2C-A7F2-4C40A2F70755}" srcOrd="0" destOrd="0" presId="urn:microsoft.com/office/officeart/2005/8/layout/hierarchy2"/>
    <dgm:cxn modelId="{9D7A49CF-23CB-4EC5-A83B-6810E9F4D281}" type="presParOf" srcId="{73AA7203-EE57-42B6-96F6-92CD5D23BE50}" destId="{ABCC1ADE-4FF4-4969-9A8E-88916DE64145}" srcOrd="1" destOrd="0" presId="urn:microsoft.com/office/officeart/2005/8/layout/hierarchy2"/>
    <dgm:cxn modelId="{781905ED-1DA4-4247-B1A1-34CB9234ADF8}" type="presParOf" srcId="{552CB9EC-0411-41BC-B8A3-6D70268E56EC}" destId="{70880C03-D875-4016-9753-BDAEB4491E7C}" srcOrd="2" destOrd="0" presId="urn:microsoft.com/office/officeart/2005/8/layout/hierarchy2"/>
    <dgm:cxn modelId="{8E733339-EA3B-451A-B801-CF5A13ED7EDE}" type="presParOf" srcId="{70880C03-D875-4016-9753-BDAEB4491E7C}" destId="{1BC5BB4B-2BE7-4648-AE37-378226245F6B}" srcOrd="0" destOrd="0" presId="urn:microsoft.com/office/officeart/2005/8/layout/hierarchy2"/>
    <dgm:cxn modelId="{1B097136-7618-4066-B981-20D3C2EAA982}" type="presParOf" srcId="{552CB9EC-0411-41BC-B8A3-6D70268E56EC}" destId="{A71AEF99-6235-40FE-B4BB-8E35237A5F41}" srcOrd="3" destOrd="0" presId="urn:microsoft.com/office/officeart/2005/8/layout/hierarchy2"/>
    <dgm:cxn modelId="{D021F0A9-EE06-49B2-841F-428122E21D70}" type="presParOf" srcId="{A71AEF99-6235-40FE-B4BB-8E35237A5F41}" destId="{E4A5BEB7-0FBD-4F3E-9C03-E112903BBC8A}" srcOrd="0" destOrd="0" presId="urn:microsoft.com/office/officeart/2005/8/layout/hierarchy2"/>
    <dgm:cxn modelId="{EA3949AD-BE41-470A-8284-26C983D4D6E8}" type="presParOf" srcId="{A71AEF99-6235-40FE-B4BB-8E35237A5F41}" destId="{03750BBF-DEA8-495A-8069-E7351765EEBA}" srcOrd="1" destOrd="0" presId="urn:microsoft.com/office/officeart/2005/8/layout/hierarchy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8D628A-3677-4883-AD54-C51289782007}">
      <dsp:nvSpPr>
        <dsp:cNvPr id="0" name=""/>
        <dsp:cNvSpPr/>
      </dsp:nvSpPr>
      <dsp:spPr>
        <a:xfrm>
          <a:off x="7645" y="2865919"/>
          <a:ext cx="2737328" cy="220545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ZA" sz="1200" kern="1200" baseline="0">
              <a:latin typeface="Arial Black" panose="020B0A04020102020204" pitchFamily="34" charset="0"/>
            </a:rPr>
            <a:t>Managing Director</a:t>
          </a:r>
        </a:p>
        <a:p>
          <a:pPr marL="0" lvl="0" indent="0" algn="ctr" defTabSz="533400">
            <a:lnSpc>
              <a:spcPct val="90000"/>
            </a:lnSpc>
            <a:spcBef>
              <a:spcPct val="0"/>
            </a:spcBef>
            <a:spcAft>
              <a:spcPct val="35000"/>
            </a:spcAft>
            <a:buNone/>
          </a:pPr>
          <a:r>
            <a:rPr lang="en-ZA" sz="1200" kern="1200" baseline="0">
              <a:latin typeface="Arial Black" panose="020B0A04020102020204" pitchFamily="34" charset="0"/>
            </a:rPr>
            <a:t>NP Msibi</a:t>
          </a:r>
        </a:p>
        <a:p>
          <a:pPr marL="0" lvl="0" indent="0" algn="ctr" defTabSz="533400">
            <a:lnSpc>
              <a:spcPct val="90000"/>
            </a:lnSpc>
            <a:spcBef>
              <a:spcPct val="0"/>
            </a:spcBef>
            <a:spcAft>
              <a:spcPct val="35000"/>
            </a:spcAft>
            <a:buNone/>
          </a:pPr>
          <a:r>
            <a:rPr lang="en-ZA" sz="1200" kern="1200" baseline="0">
              <a:latin typeface="Arial Black" panose="020B0A04020102020204" pitchFamily="34" charset="0"/>
            </a:rPr>
            <a:t>ND Analytical Chemistry &amp; BTech Quality</a:t>
          </a:r>
        </a:p>
      </dsp:txBody>
      <dsp:txXfrm>
        <a:off x="72240" y="2930514"/>
        <a:ext cx="2608138" cy="2076262"/>
      </dsp:txXfrm>
    </dsp:sp>
    <dsp:sp modelId="{8289B52A-DD4B-4AC4-8951-3E8CF65E7EFD}">
      <dsp:nvSpPr>
        <dsp:cNvPr id="0" name=""/>
        <dsp:cNvSpPr/>
      </dsp:nvSpPr>
      <dsp:spPr>
        <a:xfrm rot="18836487">
          <a:off x="2503496" y="3382396"/>
          <a:ext cx="1577886" cy="36342"/>
        </a:xfrm>
        <a:custGeom>
          <a:avLst/>
          <a:gdLst/>
          <a:ahLst/>
          <a:cxnLst/>
          <a:rect l="0" t="0" r="0" b="0"/>
          <a:pathLst>
            <a:path>
              <a:moveTo>
                <a:pt x="0" y="18171"/>
              </a:moveTo>
              <a:lnTo>
                <a:pt x="1577886" y="1817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a:off x="3252992" y="3361120"/>
        <a:ext cx="78894" cy="78894"/>
      </dsp:txXfrm>
    </dsp:sp>
    <dsp:sp modelId="{79A1DEEA-D900-460C-A68B-351A46AB3238}">
      <dsp:nvSpPr>
        <dsp:cNvPr id="0" name=""/>
        <dsp:cNvSpPr/>
      </dsp:nvSpPr>
      <dsp:spPr>
        <a:xfrm>
          <a:off x="3839905" y="1671171"/>
          <a:ext cx="2737328" cy="232263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ZA" sz="1200" kern="1200" baseline="0">
              <a:latin typeface="Arial Black" panose="020B0A04020102020204" pitchFamily="34" charset="0"/>
            </a:rPr>
            <a:t>Laboratory Manager</a:t>
          </a:r>
        </a:p>
        <a:p>
          <a:pPr marL="0" lvl="0" indent="0" algn="ctr" defTabSz="533400">
            <a:lnSpc>
              <a:spcPct val="90000"/>
            </a:lnSpc>
            <a:spcBef>
              <a:spcPct val="0"/>
            </a:spcBef>
            <a:spcAft>
              <a:spcPct val="35000"/>
            </a:spcAft>
            <a:buNone/>
          </a:pPr>
          <a:r>
            <a:rPr lang="en-ZA" sz="1200" kern="1200" baseline="0">
              <a:latin typeface="Arial Black" panose="020B0A04020102020204" pitchFamily="34" charset="0"/>
            </a:rPr>
            <a:t>SB Nyambi</a:t>
          </a:r>
        </a:p>
        <a:p>
          <a:pPr marL="0" lvl="0" indent="0" algn="ctr" defTabSz="533400">
            <a:lnSpc>
              <a:spcPct val="90000"/>
            </a:lnSpc>
            <a:spcBef>
              <a:spcPct val="0"/>
            </a:spcBef>
            <a:spcAft>
              <a:spcPct val="35000"/>
            </a:spcAft>
            <a:buNone/>
          </a:pPr>
          <a:r>
            <a:rPr lang="en-ZA" sz="1200" kern="1200" baseline="0">
              <a:latin typeface="Arial Black" panose="020B0A04020102020204" pitchFamily="34" charset="0"/>
            </a:rPr>
            <a:t>Advance Diploma Analytical Chemistry</a:t>
          </a:r>
        </a:p>
      </dsp:txBody>
      <dsp:txXfrm>
        <a:off x="3907933" y="1739199"/>
        <a:ext cx="2601272" cy="2186581"/>
      </dsp:txXfrm>
    </dsp:sp>
    <dsp:sp modelId="{B542ADC4-5560-48E9-8203-F67E984E4195}">
      <dsp:nvSpPr>
        <dsp:cNvPr id="0" name=""/>
        <dsp:cNvSpPr/>
      </dsp:nvSpPr>
      <dsp:spPr>
        <a:xfrm rot="19038264">
          <a:off x="6379814" y="2309209"/>
          <a:ext cx="1489770" cy="36342"/>
        </a:xfrm>
        <a:custGeom>
          <a:avLst/>
          <a:gdLst/>
          <a:ahLst/>
          <a:cxnLst/>
          <a:rect l="0" t="0" r="0" b="0"/>
          <a:pathLst>
            <a:path>
              <a:moveTo>
                <a:pt x="0" y="18171"/>
              </a:moveTo>
              <a:lnTo>
                <a:pt x="1489770" y="1817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a:off x="7087455" y="2290136"/>
        <a:ext cx="74488" cy="74488"/>
      </dsp:txXfrm>
    </dsp:sp>
    <dsp:sp modelId="{2A7B7F19-BF72-4BF4-B918-8EBB9A25DBF3}">
      <dsp:nvSpPr>
        <dsp:cNvPr id="0" name=""/>
        <dsp:cNvSpPr/>
      </dsp:nvSpPr>
      <dsp:spPr>
        <a:xfrm>
          <a:off x="7672165" y="834643"/>
          <a:ext cx="2737328" cy="197525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ZA" sz="1200" kern="1200" baseline="0">
              <a:latin typeface="Arial Black" panose="020B0A04020102020204" pitchFamily="34" charset="0"/>
            </a:rPr>
            <a:t>Laboratory Supervisor</a:t>
          </a:r>
        </a:p>
        <a:p>
          <a:pPr marL="0" lvl="0" indent="0" algn="ctr" defTabSz="533400">
            <a:lnSpc>
              <a:spcPct val="90000"/>
            </a:lnSpc>
            <a:spcBef>
              <a:spcPct val="0"/>
            </a:spcBef>
            <a:spcAft>
              <a:spcPct val="35000"/>
            </a:spcAft>
            <a:buNone/>
          </a:pPr>
          <a:r>
            <a:rPr lang="en-ZA" sz="1200" kern="1200" baseline="0">
              <a:latin typeface="Arial Black" panose="020B0A04020102020204" pitchFamily="34" charset="0"/>
            </a:rPr>
            <a:t>Tshepo M Maponya</a:t>
          </a:r>
        </a:p>
        <a:p>
          <a:pPr marL="0" lvl="0" indent="0" algn="ctr" defTabSz="533400">
            <a:lnSpc>
              <a:spcPct val="90000"/>
            </a:lnSpc>
            <a:spcBef>
              <a:spcPct val="0"/>
            </a:spcBef>
            <a:spcAft>
              <a:spcPct val="35000"/>
            </a:spcAft>
            <a:buNone/>
          </a:pPr>
          <a:r>
            <a:rPr lang="en-ZA" sz="1200" kern="1200" baseline="0">
              <a:latin typeface="Arial Black" panose="020B0A04020102020204" pitchFamily="34" charset="0"/>
            </a:rPr>
            <a:t>Diploma Analytical Chemistry</a:t>
          </a:r>
        </a:p>
      </dsp:txBody>
      <dsp:txXfrm>
        <a:off x="7730018" y="892496"/>
        <a:ext cx="2621622" cy="1859550"/>
      </dsp:txXfrm>
    </dsp:sp>
    <dsp:sp modelId="{FC7669DF-052F-42E7-B784-5D0EB5229CD5}">
      <dsp:nvSpPr>
        <dsp:cNvPr id="0" name=""/>
        <dsp:cNvSpPr/>
      </dsp:nvSpPr>
      <dsp:spPr>
        <a:xfrm>
          <a:off x="10409494" y="1804100"/>
          <a:ext cx="1094931" cy="36342"/>
        </a:xfrm>
        <a:custGeom>
          <a:avLst/>
          <a:gdLst/>
          <a:ahLst/>
          <a:cxnLst/>
          <a:rect l="0" t="0" r="0" b="0"/>
          <a:pathLst>
            <a:path>
              <a:moveTo>
                <a:pt x="0" y="18171"/>
              </a:moveTo>
              <a:lnTo>
                <a:pt x="1094931" y="1817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a:off x="10929587" y="1794898"/>
        <a:ext cx="54746" cy="54746"/>
      </dsp:txXfrm>
    </dsp:sp>
    <dsp:sp modelId="{7B433C7C-334C-4836-AE48-FAA2FC911EDB}">
      <dsp:nvSpPr>
        <dsp:cNvPr id="0" name=""/>
        <dsp:cNvSpPr/>
      </dsp:nvSpPr>
      <dsp:spPr>
        <a:xfrm>
          <a:off x="11504426" y="512658"/>
          <a:ext cx="2737328" cy="261922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ZA" sz="1700" kern="1200" baseline="0">
              <a:latin typeface="Arial Black" panose="020B0A04020102020204" pitchFamily="34" charset="0"/>
            </a:rPr>
            <a:t>Laboratory Analysts</a:t>
          </a:r>
        </a:p>
        <a:p>
          <a:pPr marL="0" lvl="0" indent="0" algn="ctr" defTabSz="755650">
            <a:lnSpc>
              <a:spcPct val="90000"/>
            </a:lnSpc>
            <a:spcBef>
              <a:spcPct val="0"/>
            </a:spcBef>
            <a:spcAft>
              <a:spcPct val="35000"/>
            </a:spcAft>
            <a:buNone/>
          </a:pPr>
          <a:r>
            <a:rPr lang="en-ZA" sz="1700" kern="1200" baseline="0">
              <a:latin typeface="Arial Black" panose="020B0A04020102020204" pitchFamily="34" charset="0"/>
            </a:rPr>
            <a:t>x4 - outsourced</a:t>
          </a:r>
        </a:p>
        <a:p>
          <a:pPr marL="0" lvl="0" indent="0" algn="ctr" defTabSz="755650">
            <a:lnSpc>
              <a:spcPct val="90000"/>
            </a:lnSpc>
            <a:spcBef>
              <a:spcPct val="0"/>
            </a:spcBef>
            <a:spcAft>
              <a:spcPct val="35000"/>
            </a:spcAft>
            <a:buNone/>
          </a:pPr>
          <a:r>
            <a:rPr lang="en-ZA" sz="1700" kern="1200" baseline="0">
              <a:latin typeface="Arial Black" panose="020B0A04020102020204" pitchFamily="34" charset="0"/>
            </a:rPr>
            <a:t>Semester 4 Analytical Chemistry</a:t>
          </a:r>
        </a:p>
        <a:p>
          <a:pPr marL="0" lvl="0" indent="0" algn="ctr" defTabSz="755650">
            <a:lnSpc>
              <a:spcPct val="90000"/>
            </a:lnSpc>
            <a:spcBef>
              <a:spcPct val="0"/>
            </a:spcBef>
            <a:spcAft>
              <a:spcPct val="35000"/>
            </a:spcAft>
            <a:buNone/>
          </a:pPr>
          <a:endParaRPr lang="en-ZA" sz="1700" kern="1200" baseline="0">
            <a:latin typeface="Arial Black" panose="020B0A04020102020204" pitchFamily="34" charset="0"/>
          </a:endParaRPr>
        </a:p>
      </dsp:txBody>
      <dsp:txXfrm>
        <a:off x="11581141" y="589373"/>
        <a:ext cx="2583898" cy="2465796"/>
      </dsp:txXfrm>
    </dsp:sp>
    <dsp:sp modelId="{891990AA-8B9F-436D-B7CF-DA2F3A7EBEBF}">
      <dsp:nvSpPr>
        <dsp:cNvPr id="0" name=""/>
        <dsp:cNvSpPr/>
      </dsp:nvSpPr>
      <dsp:spPr>
        <a:xfrm rot="2723017">
          <a:off x="6347271" y="3364281"/>
          <a:ext cx="1545220" cy="36342"/>
        </a:xfrm>
        <a:custGeom>
          <a:avLst/>
          <a:gdLst/>
          <a:ahLst/>
          <a:cxnLst/>
          <a:rect l="0" t="0" r="0" b="0"/>
          <a:pathLst>
            <a:path>
              <a:moveTo>
                <a:pt x="0" y="18171"/>
              </a:moveTo>
              <a:lnTo>
                <a:pt x="1545220" y="1817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a:off x="7081251" y="3343822"/>
        <a:ext cx="77261" cy="77261"/>
      </dsp:txXfrm>
    </dsp:sp>
    <dsp:sp modelId="{E49E12E8-63B0-4E2C-A7F2-4C40A2F70755}">
      <dsp:nvSpPr>
        <dsp:cNvPr id="0" name=""/>
        <dsp:cNvSpPr/>
      </dsp:nvSpPr>
      <dsp:spPr>
        <a:xfrm>
          <a:off x="7662530" y="3024848"/>
          <a:ext cx="2737328" cy="181513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ZA" sz="1200" kern="1200">
              <a:latin typeface="Arial Black" panose="020B0A04020102020204" pitchFamily="34" charset="0"/>
            </a:rPr>
            <a:t>Laboratory Operator</a:t>
          </a:r>
        </a:p>
        <a:p>
          <a:pPr marL="0" lvl="0" indent="0" algn="ctr" defTabSz="533400">
            <a:lnSpc>
              <a:spcPct val="90000"/>
            </a:lnSpc>
            <a:spcBef>
              <a:spcPct val="0"/>
            </a:spcBef>
            <a:spcAft>
              <a:spcPct val="35000"/>
            </a:spcAft>
            <a:buNone/>
          </a:pPr>
          <a:r>
            <a:rPr lang="en-ZA" sz="1200" kern="1200">
              <a:latin typeface="Arial Black" panose="020B0A04020102020204" pitchFamily="34" charset="0"/>
            </a:rPr>
            <a:t>Mpho Serage</a:t>
          </a:r>
        </a:p>
        <a:p>
          <a:pPr marL="0" lvl="0" indent="0" algn="ctr" defTabSz="533400">
            <a:lnSpc>
              <a:spcPct val="90000"/>
            </a:lnSpc>
            <a:spcBef>
              <a:spcPct val="0"/>
            </a:spcBef>
            <a:spcAft>
              <a:spcPct val="35000"/>
            </a:spcAft>
            <a:buNone/>
          </a:pPr>
          <a:r>
            <a:rPr lang="en-ZA" sz="1200" kern="1200">
              <a:latin typeface="Arial Black" panose="020B0A04020102020204" pitchFamily="34" charset="0"/>
            </a:rPr>
            <a:t>(Grade 12 required)</a:t>
          </a:r>
        </a:p>
      </dsp:txBody>
      <dsp:txXfrm>
        <a:off x="7715694" y="3078012"/>
        <a:ext cx="2631000" cy="1708808"/>
      </dsp:txXfrm>
    </dsp:sp>
    <dsp:sp modelId="{70880C03-D875-4016-9753-BDAEB4491E7C}">
      <dsp:nvSpPr>
        <dsp:cNvPr id="0" name=""/>
        <dsp:cNvSpPr/>
      </dsp:nvSpPr>
      <dsp:spPr>
        <a:xfrm rot="2945926">
          <a:off x="2456304" y="4582458"/>
          <a:ext cx="1672271" cy="36342"/>
        </a:xfrm>
        <a:custGeom>
          <a:avLst/>
          <a:gdLst/>
          <a:ahLst/>
          <a:cxnLst/>
          <a:rect l="0" t="0" r="0" b="0"/>
          <a:pathLst>
            <a:path>
              <a:moveTo>
                <a:pt x="0" y="18171"/>
              </a:moveTo>
              <a:lnTo>
                <a:pt x="1672271" y="1817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a:off x="3250632" y="4558822"/>
        <a:ext cx="83613" cy="83613"/>
      </dsp:txXfrm>
    </dsp:sp>
    <dsp:sp modelId="{E4A5BEB7-0FBD-4F3E-9C03-E112903BBC8A}">
      <dsp:nvSpPr>
        <dsp:cNvPr id="0" name=""/>
        <dsp:cNvSpPr/>
      </dsp:nvSpPr>
      <dsp:spPr>
        <a:xfrm>
          <a:off x="3839905" y="4199107"/>
          <a:ext cx="2737328" cy="20670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ZA" sz="1200" kern="1200">
              <a:latin typeface="Arial Black" panose="020B0A04020102020204" pitchFamily="34" charset="0"/>
            </a:rPr>
            <a:t>Outsourced functions</a:t>
          </a:r>
        </a:p>
        <a:p>
          <a:pPr marL="0" lvl="0" indent="0" algn="ctr" defTabSz="533400">
            <a:lnSpc>
              <a:spcPct val="90000"/>
            </a:lnSpc>
            <a:spcBef>
              <a:spcPct val="0"/>
            </a:spcBef>
            <a:spcAft>
              <a:spcPct val="35000"/>
            </a:spcAft>
            <a:buNone/>
          </a:pPr>
          <a:r>
            <a:rPr lang="en-ZA" sz="1200" kern="1200">
              <a:latin typeface="Arial Black" panose="020B0A04020102020204" pitchFamily="34" charset="0"/>
            </a:rPr>
            <a:t>HR &amp; Bookkeeping</a:t>
          </a:r>
        </a:p>
      </dsp:txBody>
      <dsp:txXfrm>
        <a:off x="3900446" y="4259648"/>
        <a:ext cx="2616246" cy="194592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jpeg"/><Relationship Id="rId13" Type="http://schemas.microsoft.com/office/2007/relationships/diagramDrawing" Target="../diagrams/drawing1.xml"/><Relationship Id="rId3" Type="http://schemas.openxmlformats.org/officeDocument/2006/relationships/image" Target="../media/image6.svg"/><Relationship Id="rId7" Type="http://schemas.openxmlformats.org/officeDocument/2006/relationships/image" Target="../media/image10.svg"/><Relationship Id="rId12" Type="http://schemas.openxmlformats.org/officeDocument/2006/relationships/diagramColors" Target="../diagrams/colors1.xml"/><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diagramQuickStyle" Target="../diagrams/quickStyle1.xml"/><Relationship Id="rId5" Type="http://schemas.openxmlformats.org/officeDocument/2006/relationships/image" Target="../media/image8.svg"/><Relationship Id="rId10" Type="http://schemas.openxmlformats.org/officeDocument/2006/relationships/diagramLayout" Target="../diagrams/layout1.xml"/><Relationship Id="rId4" Type="http://schemas.openxmlformats.org/officeDocument/2006/relationships/image" Target="../media/image7.png"/><Relationship Id="rId9"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295A"/>
        </a:solidFill>
        <a:effectLst/>
      </p:bgPr>
    </p:bg>
    <p:spTree>
      <p:nvGrpSpPr>
        <p:cNvPr id="1" name=""/>
        <p:cNvGrpSpPr/>
        <p:nvPr/>
      </p:nvGrpSpPr>
      <p:grpSpPr>
        <a:xfrm>
          <a:off x="0" y="0"/>
          <a:ext cx="0" cy="0"/>
          <a:chOff x="0" y="0"/>
          <a:chExt cx="0" cy="0"/>
        </a:xfrm>
      </p:grpSpPr>
      <p:sp>
        <p:nvSpPr>
          <p:cNvPr id="2" name="AutoShape 2"/>
          <p:cNvSpPr/>
          <p:nvPr/>
        </p:nvSpPr>
        <p:spPr>
          <a:xfrm>
            <a:off x="16841955" y="9058042"/>
            <a:ext cx="1446045" cy="1228958"/>
          </a:xfrm>
          <a:prstGeom prst="rect">
            <a:avLst/>
          </a:prstGeom>
          <a:solidFill>
            <a:srgbClr val="4783FB"/>
          </a:solidFill>
          <a:ln cap="sq">
            <a:noFill/>
            <a:prstDash val="solid"/>
            <a:miter/>
          </a:ln>
        </p:spPr>
        <p:txBody>
          <a:bodyPr/>
          <a:lstStyle/>
          <a:p>
            <a:endParaRPr lang="en-ZA"/>
          </a:p>
        </p:txBody>
      </p:sp>
      <p:sp>
        <p:nvSpPr>
          <p:cNvPr id="3" name="AutoShape 3"/>
          <p:cNvSpPr/>
          <p:nvPr/>
        </p:nvSpPr>
        <p:spPr>
          <a:xfrm>
            <a:off x="0" y="0"/>
            <a:ext cx="1028700" cy="1028700"/>
          </a:xfrm>
          <a:prstGeom prst="rect">
            <a:avLst/>
          </a:prstGeom>
          <a:solidFill>
            <a:srgbClr val="4783FB"/>
          </a:solidFill>
          <a:ln cap="sq">
            <a:noFill/>
            <a:prstDash val="solid"/>
            <a:miter/>
          </a:ln>
        </p:spPr>
        <p:txBody>
          <a:bodyPr/>
          <a:lstStyle/>
          <a:p>
            <a:endParaRPr lang="en-ZA"/>
          </a:p>
        </p:txBody>
      </p:sp>
      <p:grpSp>
        <p:nvGrpSpPr>
          <p:cNvPr id="4" name="Group 4"/>
          <p:cNvGrpSpPr/>
          <p:nvPr/>
        </p:nvGrpSpPr>
        <p:grpSpPr>
          <a:xfrm>
            <a:off x="11675806" y="1469942"/>
            <a:ext cx="5831836" cy="6984803"/>
            <a:chOff x="0" y="0"/>
            <a:chExt cx="6432158" cy="7703810"/>
          </a:xfrm>
        </p:grpSpPr>
        <p:sp>
          <p:nvSpPr>
            <p:cNvPr id="5" name="Freeform 5"/>
            <p:cNvSpPr/>
            <p:nvPr/>
          </p:nvSpPr>
          <p:spPr>
            <a:xfrm>
              <a:off x="0" y="0"/>
              <a:ext cx="6432158" cy="7703810"/>
            </a:xfrm>
            <a:custGeom>
              <a:avLst/>
              <a:gdLst/>
              <a:ahLst/>
              <a:cxnLst/>
              <a:rect l="l" t="t" r="r" b="b"/>
              <a:pathLst>
                <a:path w="6432158" h="7703810">
                  <a:moveTo>
                    <a:pt x="6432158" y="1418302"/>
                  </a:moveTo>
                  <a:cubicBezTo>
                    <a:pt x="6432158" y="3681389"/>
                    <a:pt x="6432158" y="5440708"/>
                    <a:pt x="6432158" y="7703810"/>
                  </a:cubicBezTo>
                  <a:lnTo>
                    <a:pt x="0" y="7703810"/>
                  </a:lnTo>
                  <a:lnTo>
                    <a:pt x="0" y="1860070"/>
                  </a:lnTo>
                  <a:cubicBezTo>
                    <a:pt x="0" y="1240052"/>
                    <a:pt x="0" y="620018"/>
                    <a:pt x="0" y="0"/>
                  </a:cubicBezTo>
                  <a:lnTo>
                    <a:pt x="2720310" y="0"/>
                  </a:lnTo>
                  <a:cubicBezTo>
                    <a:pt x="3957593" y="472767"/>
                    <a:pt x="5194876" y="945535"/>
                    <a:pt x="6432158" y="1418302"/>
                  </a:cubicBezTo>
                  <a:close/>
                </a:path>
              </a:pathLst>
            </a:custGeom>
            <a:blipFill>
              <a:blip r:embed="rId2"/>
              <a:stretch>
                <a:fillRect l="-9885" r="-9885"/>
              </a:stretch>
            </a:blipFill>
            <a:ln w="28575" cap="sq">
              <a:solidFill>
                <a:srgbClr val="000000"/>
              </a:solidFill>
              <a:prstDash val="solid"/>
              <a:miter/>
            </a:ln>
          </p:spPr>
          <p:txBody>
            <a:bodyPr/>
            <a:lstStyle/>
            <a:p>
              <a:endParaRPr lang="en-ZA"/>
            </a:p>
          </p:txBody>
        </p:sp>
      </p:grpSp>
      <p:grpSp>
        <p:nvGrpSpPr>
          <p:cNvPr id="6" name="Group 6"/>
          <p:cNvGrpSpPr/>
          <p:nvPr/>
        </p:nvGrpSpPr>
        <p:grpSpPr>
          <a:xfrm>
            <a:off x="1283800" y="1701689"/>
            <a:ext cx="8072069" cy="5072480"/>
            <a:chOff x="0" y="0"/>
            <a:chExt cx="10762759" cy="6763307"/>
          </a:xfrm>
        </p:grpSpPr>
        <p:sp>
          <p:nvSpPr>
            <p:cNvPr id="7" name="TextBox 7"/>
            <p:cNvSpPr txBox="1"/>
            <p:nvPr/>
          </p:nvSpPr>
          <p:spPr>
            <a:xfrm>
              <a:off x="0" y="0"/>
              <a:ext cx="10762759" cy="1966351"/>
            </a:xfrm>
            <a:prstGeom prst="rect">
              <a:avLst/>
            </a:prstGeom>
          </p:spPr>
          <p:txBody>
            <a:bodyPr lIns="0" tIns="0" rIns="0" bIns="0" rtlCol="0" anchor="t">
              <a:spAutoFit/>
            </a:bodyPr>
            <a:lstStyle/>
            <a:p>
              <a:pPr marL="0" lvl="0" indent="0" algn="l">
                <a:lnSpc>
                  <a:spcPts val="11519"/>
                </a:lnSpc>
              </a:pPr>
              <a:r>
                <a:rPr lang="en-US" sz="9600" b="1" spc="-480" dirty="0">
                  <a:solidFill>
                    <a:srgbClr val="EEF3FE"/>
                  </a:solidFill>
                  <a:latin typeface="DM Sans Bold"/>
                  <a:ea typeface="DM Sans Bold"/>
                  <a:cs typeface="DM Sans Bold"/>
                  <a:sym typeface="DM Sans Bold"/>
                </a:rPr>
                <a:t> </a:t>
              </a:r>
              <a:r>
                <a:rPr lang="en-US" sz="6000" b="1" spc="-480" dirty="0" err="1">
                  <a:solidFill>
                    <a:srgbClr val="EEF3FE"/>
                  </a:solidFill>
                  <a:latin typeface="DM Sans Bold"/>
                  <a:ea typeface="DM Sans Bold"/>
                  <a:cs typeface="DM Sans Bold"/>
                  <a:sym typeface="DM Sans Bold"/>
                </a:rPr>
                <a:t>Azuresky</a:t>
              </a:r>
              <a:r>
                <a:rPr lang="en-US" sz="6000" b="1" spc="-480" dirty="0">
                  <a:solidFill>
                    <a:srgbClr val="EEF3FE"/>
                  </a:solidFill>
                  <a:latin typeface="DM Sans Bold"/>
                  <a:ea typeface="DM Sans Bold"/>
                  <a:cs typeface="DM Sans Bold"/>
                  <a:sym typeface="DM Sans Bold"/>
                </a:rPr>
                <a:t> (Pty) Ltd</a:t>
              </a:r>
            </a:p>
          </p:txBody>
        </p:sp>
        <p:sp>
          <p:nvSpPr>
            <p:cNvPr id="8" name="TextBox 8"/>
            <p:cNvSpPr txBox="1"/>
            <p:nvPr/>
          </p:nvSpPr>
          <p:spPr>
            <a:xfrm>
              <a:off x="0" y="4288271"/>
              <a:ext cx="7382898" cy="2475036"/>
            </a:xfrm>
            <a:prstGeom prst="rect">
              <a:avLst/>
            </a:prstGeom>
          </p:spPr>
          <p:txBody>
            <a:bodyPr lIns="0" tIns="0" rIns="0" bIns="0" rtlCol="0" anchor="t">
              <a:spAutoFit/>
            </a:bodyPr>
            <a:lstStyle/>
            <a:p>
              <a:pPr marL="0" lvl="0" indent="0" algn="l">
                <a:lnSpc>
                  <a:spcPts val="4900"/>
                </a:lnSpc>
                <a:spcBef>
                  <a:spcPct val="0"/>
                </a:spcBef>
              </a:pPr>
              <a:r>
                <a:rPr lang="en-US" sz="3500" dirty="0">
                  <a:solidFill>
                    <a:srgbClr val="EEF3FE"/>
                  </a:solidFill>
                  <a:latin typeface="DM Sans"/>
                  <a:ea typeface="DM Sans"/>
                  <a:cs typeface="DM Sans"/>
                  <a:sym typeface="DM Sans"/>
                </a:rPr>
                <a:t>Company profile by: Nonhlanhla Msibi</a:t>
              </a:r>
            </a:p>
            <a:p>
              <a:pPr marL="0" lvl="0" indent="0" algn="l">
                <a:lnSpc>
                  <a:spcPts val="4900"/>
                </a:lnSpc>
                <a:spcBef>
                  <a:spcPct val="0"/>
                </a:spcBef>
              </a:pPr>
              <a:r>
                <a:rPr lang="en-US" sz="3500" dirty="0">
                  <a:solidFill>
                    <a:srgbClr val="EEF3FE"/>
                  </a:solidFill>
                  <a:latin typeface="DM Sans"/>
                  <a:ea typeface="DM Sans"/>
                  <a:cs typeface="DM Sans"/>
                  <a:sym typeface="DM Sans"/>
                </a:rPr>
                <a:t>18/08/2025</a:t>
              </a:r>
            </a:p>
          </p:txBody>
        </p:sp>
      </p:grpSp>
      <p:sp>
        <p:nvSpPr>
          <p:cNvPr id="9" name="Freeform 9"/>
          <p:cNvSpPr/>
          <p:nvPr/>
        </p:nvSpPr>
        <p:spPr>
          <a:xfrm rot="-10660552">
            <a:off x="39616" y="8261171"/>
            <a:ext cx="1994258" cy="1994258"/>
          </a:xfrm>
          <a:custGeom>
            <a:avLst/>
            <a:gdLst/>
            <a:ahLst/>
            <a:cxnLst/>
            <a:rect l="l" t="t" r="r" b="b"/>
            <a:pathLst>
              <a:path w="1994258" h="1994258">
                <a:moveTo>
                  <a:pt x="0" y="0"/>
                </a:moveTo>
                <a:lnTo>
                  <a:pt x="1994258" y="0"/>
                </a:lnTo>
                <a:lnTo>
                  <a:pt x="1994258" y="1994258"/>
                </a:lnTo>
                <a:lnTo>
                  <a:pt x="0" y="1994258"/>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ZA"/>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2295A"/>
        </a:solidFill>
        <a:effectLst/>
      </p:bgPr>
    </p:bg>
    <p:spTree>
      <p:nvGrpSpPr>
        <p:cNvPr id="1" name=""/>
        <p:cNvGrpSpPr/>
        <p:nvPr/>
      </p:nvGrpSpPr>
      <p:grpSpPr>
        <a:xfrm>
          <a:off x="0" y="0"/>
          <a:ext cx="0" cy="0"/>
          <a:chOff x="0" y="0"/>
          <a:chExt cx="0" cy="0"/>
        </a:xfrm>
      </p:grpSpPr>
      <p:sp>
        <p:nvSpPr>
          <p:cNvPr id="2" name="AutoShape 2"/>
          <p:cNvSpPr/>
          <p:nvPr/>
        </p:nvSpPr>
        <p:spPr>
          <a:xfrm>
            <a:off x="10735734" y="16866"/>
            <a:ext cx="7552266" cy="1938071"/>
          </a:xfrm>
          <a:prstGeom prst="rect">
            <a:avLst/>
          </a:prstGeom>
          <a:solidFill>
            <a:srgbClr val="4783FB"/>
          </a:solidFill>
          <a:ln cap="sq">
            <a:noFill/>
            <a:prstDash val="solid"/>
            <a:miter/>
          </a:ln>
        </p:spPr>
        <p:txBody>
          <a:bodyPr/>
          <a:lstStyle/>
          <a:p>
            <a:endParaRPr lang="en-ZA"/>
          </a:p>
        </p:txBody>
      </p:sp>
      <p:sp>
        <p:nvSpPr>
          <p:cNvPr id="3" name="AutoShape 3"/>
          <p:cNvSpPr/>
          <p:nvPr/>
        </p:nvSpPr>
        <p:spPr>
          <a:xfrm>
            <a:off x="10735734" y="8308338"/>
            <a:ext cx="7552266" cy="1978662"/>
          </a:xfrm>
          <a:prstGeom prst="rect">
            <a:avLst/>
          </a:prstGeom>
          <a:solidFill>
            <a:srgbClr val="4783FB"/>
          </a:solidFill>
          <a:ln cap="sq">
            <a:noFill/>
            <a:prstDash val="solid"/>
            <a:miter/>
          </a:ln>
        </p:spPr>
        <p:txBody>
          <a:bodyPr/>
          <a:lstStyle/>
          <a:p>
            <a:endParaRPr lang="en-ZA"/>
          </a:p>
        </p:txBody>
      </p:sp>
      <p:sp>
        <p:nvSpPr>
          <p:cNvPr id="4" name="Freeform 4"/>
          <p:cNvSpPr/>
          <p:nvPr/>
        </p:nvSpPr>
        <p:spPr>
          <a:xfrm>
            <a:off x="0" y="8602995"/>
            <a:ext cx="1996738" cy="1684005"/>
          </a:xfrm>
          <a:custGeom>
            <a:avLst/>
            <a:gdLst/>
            <a:ahLst/>
            <a:cxnLst/>
            <a:rect l="l" t="t" r="r" b="b"/>
            <a:pathLst>
              <a:path w="1996738" h="1684005">
                <a:moveTo>
                  <a:pt x="0" y="0"/>
                </a:moveTo>
                <a:lnTo>
                  <a:pt x="1996738" y="0"/>
                </a:lnTo>
                <a:lnTo>
                  <a:pt x="1996738" y="1684005"/>
                </a:lnTo>
                <a:lnTo>
                  <a:pt x="0" y="1684005"/>
                </a:lnTo>
                <a:lnTo>
                  <a:pt x="0" y="0"/>
                </a:lnTo>
                <a:close/>
              </a:path>
            </a:pathLst>
          </a:custGeom>
          <a:blipFill>
            <a:blip r:embed="rId2"/>
            <a:stretch>
              <a:fillRect t="-18570"/>
            </a:stretch>
          </a:blipFill>
        </p:spPr>
        <p:txBody>
          <a:bodyPr/>
          <a:lstStyle/>
          <a:p>
            <a:endParaRPr lang="en-ZA"/>
          </a:p>
        </p:txBody>
      </p:sp>
      <p:sp>
        <p:nvSpPr>
          <p:cNvPr id="5" name="Freeform 5"/>
          <p:cNvSpPr/>
          <p:nvPr/>
        </p:nvSpPr>
        <p:spPr>
          <a:xfrm>
            <a:off x="10735734" y="1860037"/>
            <a:ext cx="7552266" cy="6448301"/>
          </a:xfrm>
          <a:custGeom>
            <a:avLst/>
            <a:gdLst/>
            <a:ahLst/>
            <a:cxnLst/>
            <a:rect l="l" t="t" r="r" b="b"/>
            <a:pathLst>
              <a:path w="7552266" h="6448301">
                <a:moveTo>
                  <a:pt x="0" y="0"/>
                </a:moveTo>
                <a:lnTo>
                  <a:pt x="7552266" y="0"/>
                </a:lnTo>
                <a:lnTo>
                  <a:pt x="7552266" y="6448301"/>
                </a:lnTo>
                <a:lnTo>
                  <a:pt x="0" y="6448301"/>
                </a:lnTo>
                <a:lnTo>
                  <a:pt x="0" y="0"/>
                </a:lnTo>
                <a:close/>
              </a:path>
            </a:pathLst>
          </a:custGeom>
          <a:blipFill>
            <a:blip r:embed="rId3"/>
            <a:stretch>
              <a:fillRect l="-7419" r="-7419"/>
            </a:stretch>
          </a:blipFill>
        </p:spPr>
        <p:txBody>
          <a:bodyPr/>
          <a:lstStyle/>
          <a:p>
            <a:endParaRPr lang="en-ZA"/>
          </a:p>
        </p:txBody>
      </p:sp>
      <p:grpSp>
        <p:nvGrpSpPr>
          <p:cNvPr id="6" name="Group 6"/>
          <p:cNvGrpSpPr/>
          <p:nvPr/>
        </p:nvGrpSpPr>
        <p:grpSpPr>
          <a:xfrm>
            <a:off x="457200" y="647700"/>
            <a:ext cx="10278534" cy="7620675"/>
            <a:chOff x="0" y="0"/>
            <a:chExt cx="11531600" cy="5152399"/>
          </a:xfrm>
        </p:grpSpPr>
        <p:sp>
          <p:nvSpPr>
            <p:cNvPr id="7" name="TextBox 7"/>
            <p:cNvSpPr txBox="1"/>
            <p:nvPr/>
          </p:nvSpPr>
          <p:spPr>
            <a:xfrm>
              <a:off x="0" y="0"/>
              <a:ext cx="11320508" cy="5152399"/>
            </a:xfrm>
            <a:prstGeom prst="rect">
              <a:avLst/>
            </a:prstGeom>
          </p:spPr>
          <p:txBody>
            <a:bodyPr lIns="0" tIns="0" rIns="0" bIns="0" rtlCol="0" anchor="t">
              <a:spAutoFit/>
            </a:bodyPr>
            <a:lstStyle/>
            <a:p>
              <a:pPr marL="0" lvl="0" indent="0" algn="l">
                <a:lnSpc>
                  <a:spcPts val="6720"/>
                </a:lnSpc>
              </a:pPr>
              <a:r>
                <a:rPr lang="en-US" sz="5600" dirty="0">
                  <a:solidFill>
                    <a:srgbClr val="EEF3FE"/>
                  </a:solidFill>
                  <a:latin typeface="DM Sans"/>
                  <a:ea typeface="DM Sans"/>
                  <a:cs typeface="DM Sans"/>
                  <a:sym typeface="DM Sans"/>
                </a:rPr>
                <a:t>Content:</a:t>
              </a:r>
            </a:p>
            <a:p>
              <a:pPr>
                <a:lnSpc>
                  <a:spcPts val="6720"/>
                </a:lnSpc>
                <a:buFont typeface="+mj-lt"/>
                <a:buAutoNum type="arabicPeriod"/>
              </a:pPr>
              <a:r>
                <a:rPr lang="en-GB" altLang="en-GB" sz="2800" dirty="0">
                  <a:solidFill>
                    <a:srgbClr val="EEF3FE"/>
                  </a:solidFill>
                  <a:latin typeface="DM Sans"/>
                </a:rPr>
                <a:t>Background: Company Facts</a:t>
              </a:r>
              <a:endParaRPr lang="en-GB" sz="2800" dirty="0">
                <a:solidFill>
                  <a:srgbClr val="EEF3FE"/>
                </a:solidFill>
                <a:latin typeface="DM Sans"/>
              </a:endParaRPr>
            </a:p>
            <a:p>
              <a:pPr>
                <a:lnSpc>
                  <a:spcPts val="6720"/>
                </a:lnSpc>
                <a:buFont typeface="+mj-lt"/>
                <a:buAutoNum type="arabicPeriod"/>
              </a:pPr>
              <a:r>
                <a:rPr lang="en-GB" altLang="en-GB" sz="2800" dirty="0">
                  <a:solidFill>
                    <a:srgbClr val="EEF3FE"/>
                  </a:solidFill>
                  <a:latin typeface="DM Sans"/>
                </a:rPr>
                <a:t>Client list</a:t>
              </a:r>
            </a:p>
            <a:p>
              <a:pPr>
                <a:lnSpc>
                  <a:spcPts val="6720"/>
                </a:lnSpc>
                <a:buFont typeface="+mj-lt"/>
                <a:buAutoNum type="arabicPeriod"/>
              </a:pPr>
              <a:r>
                <a:rPr lang="en-GB" sz="2800" dirty="0">
                  <a:solidFill>
                    <a:srgbClr val="EEF3FE"/>
                  </a:solidFill>
                  <a:latin typeface="DM Sans"/>
                </a:rPr>
                <a:t>Organogram</a:t>
              </a:r>
            </a:p>
            <a:p>
              <a:pPr>
                <a:lnSpc>
                  <a:spcPts val="6720"/>
                </a:lnSpc>
                <a:buFont typeface="+mj-lt"/>
                <a:buAutoNum type="arabicPeriod"/>
              </a:pPr>
              <a:r>
                <a:rPr lang="en-GB" sz="2800" dirty="0">
                  <a:solidFill>
                    <a:srgbClr val="EEF3FE"/>
                  </a:solidFill>
                  <a:latin typeface="DM Sans"/>
                </a:rPr>
                <a:t>Value proposition proficiency testing scheme</a:t>
              </a:r>
            </a:p>
            <a:p>
              <a:pPr>
                <a:lnSpc>
                  <a:spcPts val="6720"/>
                </a:lnSpc>
                <a:buAutoNum type="arabicPeriod"/>
              </a:pPr>
              <a:r>
                <a:rPr lang="en-GB" sz="2800" dirty="0">
                  <a:solidFill>
                    <a:srgbClr val="EEF3FE"/>
                  </a:solidFill>
                  <a:latin typeface="DM Sans"/>
                </a:rPr>
                <a:t>Value proposition reference material producer</a:t>
              </a:r>
            </a:p>
            <a:p>
              <a:pPr>
                <a:lnSpc>
                  <a:spcPts val="6720"/>
                </a:lnSpc>
              </a:pPr>
              <a:endParaRPr lang="en-GB" sz="2800" dirty="0">
                <a:solidFill>
                  <a:srgbClr val="EEF3FE"/>
                </a:solidFill>
                <a:latin typeface="DM Sans"/>
              </a:endParaRPr>
            </a:p>
            <a:p>
              <a:pPr marL="0" lvl="0" indent="0" algn="l">
                <a:lnSpc>
                  <a:spcPts val="6720"/>
                </a:lnSpc>
              </a:pPr>
              <a:endParaRPr lang="en-US" sz="2800" dirty="0">
                <a:solidFill>
                  <a:srgbClr val="EEF3FE"/>
                </a:solidFill>
                <a:latin typeface="DM Sans"/>
                <a:ea typeface="DM Sans"/>
                <a:cs typeface="DM Sans"/>
                <a:sym typeface="DM Sans"/>
              </a:endParaRPr>
            </a:p>
            <a:p>
              <a:pPr marL="0" lvl="0" indent="0" algn="l">
                <a:lnSpc>
                  <a:spcPts val="6720"/>
                </a:lnSpc>
              </a:pPr>
              <a:endParaRPr lang="en-US" sz="2800" dirty="0">
                <a:solidFill>
                  <a:srgbClr val="EEF3FE"/>
                </a:solidFill>
                <a:latin typeface="DM Sans"/>
                <a:ea typeface="DM Sans"/>
                <a:cs typeface="DM Sans"/>
                <a:sym typeface="DM Sans"/>
              </a:endParaRPr>
            </a:p>
          </p:txBody>
        </p:sp>
        <p:sp>
          <p:nvSpPr>
            <p:cNvPr id="8" name="TextBox 8"/>
            <p:cNvSpPr txBox="1"/>
            <p:nvPr/>
          </p:nvSpPr>
          <p:spPr>
            <a:xfrm>
              <a:off x="0" y="883834"/>
              <a:ext cx="11531600" cy="322974"/>
            </a:xfrm>
            <a:prstGeom prst="rect">
              <a:avLst/>
            </a:prstGeom>
          </p:spPr>
          <p:txBody>
            <a:bodyPr wrap="square" lIns="0" tIns="0" rIns="0" bIns="0" rtlCol="0" anchor="t">
              <a:spAutoFit/>
            </a:bodyPr>
            <a:lstStyle/>
            <a:p>
              <a:pPr marL="0" lvl="0" indent="0" algn="l">
                <a:lnSpc>
                  <a:spcPts val="3920"/>
                </a:lnSpc>
                <a:spcBef>
                  <a:spcPct val="0"/>
                </a:spcBef>
              </a:pPr>
              <a:r>
                <a:rPr lang="en-US" sz="2800" dirty="0">
                  <a:solidFill>
                    <a:srgbClr val="EEF3FE"/>
                  </a:solidFill>
                  <a:latin typeface="DM Sans"/>
                  <a:ea typeface="DM Sans"/>
                  <a:cs typeface="DM Sans"/>
                  <a:sym typeface="DM Sans"/>
                </a:rPr>
                <a:t>.</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2295A"/>
        </a:solidFill>
        <a:effectLst/>
      </p:bgPr>
    </p:bg>
    <p:spTree>
      <p:nvGrpSpPr>
        <p:cNvPr id="1" name=""/>
        <p:cNvGrpSpPr/>
        <p:nvPr/>
      </p:nvGrpSpPr>
      <p:grpSpPr>
        <a:xfrm>
          <a:off x="0" y="0"/>
          <a:ext cx="0" cy="0"/>
          <a:chOff x="0" y="0"/>
          <a:chExt cx="0" cy="0"/>
        </a:xfrm>
      </p:grpSpPr>
      <p:sp>
        <p:nvSpPr>
          <p:cNvPr id="2" name="AutoShape 2"/>
          <p:cNvSpPr/>
          <p:nvPr/>
        </p:nvSpPr>
        <p:spPr>
          <a:xfrm>
            <a:off x="1592383" y="2758502"/>
            <a:ext cx="6951522" cy="5981592"/>
          </a:xfrm>
          <a:prstGeom prst="rect">
            <a:avLst/>
          </a:prstGeom>
          <a:solidFill>
            <a:srgbClr val="12295A"/>
          </a:solidFill>
          <a:ln w="28575" cap="sq">
            <a:solidFill>
              <a:srgbClr val="000000"/>
            </a:solidFill>
            <a:prstDash val="solid"/>
            <a:miter/>
          </a:ln>
        </p:spPr>
        <p:txBody>
          <a:bodyPr/>
          <a:lstStyle/>
          <a:p>
            <a:pPr marL="441960" indent="-171450" algn="just">
              <a:lnSpc>
                <a:spcPct val="110000"/>
              </a:lnSpc>
              <a:spcBef>
                <a:spcPts val="600"/>
              </a:spcBef>
              <a:buFont typeface="Arial" panose="020B0604020202020204" pitchFamily="34" charset="0"/>
              <a:buChar char="•"/>
            </a:pPr>
            <a:r>
              <a:rPr lang="en-GB" sz="2000" dirty="0" err="1">
                <a:solidFill>
                  <a:schemeClr val="bg1"/>
                </a:solidFill>
                <a:latin typeface="Arial" panose="020B0604020202020204" pitchFamily="34" charset="0"/>
                <a:ea typeface="MS PGothic" panose="020B0600070205080204" pitchFamily="34" charset="-128"/>
                <a:cs typeface="Arial" panose="020B0604020202020204" pitchFamily="34" charset="0"/>
              </a:rPr>
              <a:t>Azuresky</a:t>
            </a:r>
            <a:r>
              <a:rPr lang="en-GB" sz="2000" dirty="0">
                <a:solidFill>
                  <a:schemeClr val="bg1"/>
                </a:solidFill>
                <a:latin typeface="Arial" panose="020B0604020202020204" pitchFamily="34" charset="0"/>
                <a:ea typeface="MS PGothic" panose="020B0600070205080204" pitchFamily="34" charset="-128"/>
                <a:cs typeface="Arial" panose="020B0604020202020204" pitchFamily="34" charset="0"/>
              </a:rPr>
              <a:t> (Pty) Ltd is a  CIPC registered company with number 2024/223777/07</a:t>
            </a:r>
          </a:p>
          <a:p>
            <a:pPr marL="441960" indent="-171450" algn="just">
              <a:lnSpc>
                <a:spcPct val="110000"/>
              </a:lnSpc>
              <a:spcBef>
                <a:spcPts val="600"/>
              </a:spcBef>
              <a:buFont typeface="Arial" panose="020B0604020202020204" pitchFamily="34" charset="0"/>
              <a:buChar char="•"/>
            </a:pPr>
            <a:r>
              <a:rPr lang="en-ZA" sz="2000" dirty="0">
                <a:solidFill>
                  <a:schemeClr val="bg1"/>
                </a:solidFill>
                <a:latin typeface="Arial" panose="020B0604020202020204" pitchFamily="34" charset="0"/>
                <a:ea typeface="Calibri" panose="020F0502020204030204" pitchFamily="34" charset="0"/>
                <a:cs typeface="Arial" panose="020B0604020202020204" pitchFamily="34" charset="0"/>
              </a:rPr>
              <a:t>B-BBEE is valid with a 100% Black Ownership</a:t>
            </a:r>
          </a:p>
          <a:p>
            <a:pPr marL="441960" indent="-171450" algn="just">
              <a:lnSpc>
                <a:spcPct val="110000"/>
              </a:lnSpc>
              <a:spcBef>
                <a:spcPts val="600"/>
              </a:spcBef>
              <a:buFont typeface="Arial" panose="020B0604020202020204" pitchFamily="34" charset="0"/>
              <a:buChar char="•"/>
            </a:pPr>
            <a:r>
              <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rPr>
              <a:t>Shareholding: 100% Female owned (First black female owned) and founded in April 2024 by Nonhlanhla Msibi (CEO)</a:t>
            </a:r>
          </a:p>
          <a:p>
            <a:pPr marL="441960" indent="-171450" algn="just">
              <a:lnSpc>
                <a:spcPct val="110000"/>
              </a:lnSpc>
              <a:spcBef>
                <a:spcPts val="600"/>
              </a:spcBef>
              <a:buFont typeface="Arial" panose="020B0604020202020204" pitchFamily="34" charset="0"/>
              <a:buChar char="•"/>
            </a:pPr>
            <a:r>
              <a:rPr lang="en-ZA" sz="2000" dirty="0">
                <a:solidFill>
                  <a:schemeClr val="bg1"/>
                </a:solidFill>
                <a:latin typeface="Arial" panose="020B0604020202020204" pitchFamily="34" charset="0"/>
                <a:ea typeface="Calibri" panose="020F0502020204030204" pitchFamily="34" charset="0"/>
                <a:cs typeface="Arial" panose="020B0604020202020204" pitchFamily="34" charset="0"/>
              </a:rPr>
              <a:t>Tax Clearance is valid</a:t>
            </a:r>
          </a:p>
          <a:p>
            <a:pPr marL="441960" indent="-171450" algn="just">
              <a:lnSpc>
                <a:spcPct val="110000"/>
              </a:lnSpc>
              <a:spcBef>
                <a:spcPts val="600"/>
              </a:spcBef>
              <a:buFont typeface="Arial" panose="020B0604020202020204" pitchFamily="34" charset="0"/>
              <a:buChar char="•"/>
            </a:pPr>
            <a:r>
              <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rPr>
              <a:t>It operates in Gauteng, company address/location is as follows:</a:t>
            </a:r>
          </a:p>
          <a:p>
            <a:pPr marL="270510" algn="just">
              <a:lnSpc>
                <a:spcPct val="110000"/>
              </a:lnSpc>
              <a:spcBef>
                <a:spcPts val="600"/>
              </a:spcBef>
            </a:pPr>
            <a:r>
              <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rPr>
              <a:t>	17 </a:t>
            </a:r>
            <a:r>
              <a:rPr lang="en-ZA" sz="2000" dirty="0" err="1">
                <a:solidFill>
                  <a:schemeClr val="bg1"/>
                </a:solidFill>
                <a:latin typeface="Arial" panose="020B0604020202020204" pitchFamily="34" charset="0"/>
                <a:ea typeface="MS PGothic" panose="020B0600070205080204" pitchFamily="34" charset="-128"/>
                <a:cs typeface="Arial" panose="020B0604020202020204" pitchFamily="34" charset="0"/>
              </a:rPr>
              <a:t>Makriel</a:t>
            </a:r>
            <a:r>
              <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rPr>
              <a:t> Road</a:t>
            </a:r>
          </a:p>
          <a:p>
            <a:pPr marL="270510" algn="just">
              <a:lnSpc>
                <a:spcPct val="110000"/>
              </a:lnSpc>
              <a:spcBef>
                <a:spcPts val="600"/>
              </a:spcBef>
            </a:pPr>
            <a:r>
              <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rPr>
              <a:t>	</a:t>
            </a:r>
            <a:r>
              <a:rPr lang="en-ZA" sz="2000" dirty="0" err="1">
                <a:solidFill>
                  <a:schemeClr val="bg1"/>
                </a:solidFill>
                <a:latin typeface="Arial" panose="020B0604020202020204" pitchFamily="34" charset="0"/>
                <a:ea typeface="MS PGothic" panose="020B0600070205080204" pitchFamily="34" charset="-128"/>
                <a:cs typeface="Arial" panose="020B0604020202020204" pitchFamily="34" charset="0"/>
              </a:rPr>
              <a:t>Wadeville</a:t>
            </a:r>
            <a:endPar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endParaRPr>
          </a:p>
          <a:p>
            <a:pPr marL="270510" algn="just">
              <a:lnSpc>
                <a:spcPct val="110000"/>
              </a:lnSpc>
              <a:spcBef>
                <a:spcPts val="600"/>
              </a:spcBef>
            </a:pPr>
            <a:r>
              <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rPr>
              <a:t>	GERMISTON </a:t>
            </a:r>
          </a:p>
          <a:p>
            <a:pPr marL="270510" algn="just">
              <a:lnSpc>
                <a:spcPct val="110000"/>
              </a:lnSpc>
              <a:spcBef>
                <a:spcPts val="600"/>
              </a:spcBef>
            </a:pPr>
            <a:r>
              <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rPr>
              <a:t>	1428</a:t>
            </a:r>
          </a:p>
        </p:txBody>
      </p:sp>
      <p:sp>
        <p:nvSpPr>
          <p:cNvPr id="3" name="Freeform 3"/>
          <p:cNvSpPr/>
          <p:nvPr/>
        </p:nvSpPr>
        <p:spPr>
          <a:xfrm>
            <a:off x="16526788" y="4930720"/>
            <a:ext cx="1761212" cy="1761212"/>
          </a:xfrm>
          <a:custGeom>
            <a:avLst/>
            <a:gdLst/>
            <a:ahLst/>
            <a:cxnLst/>
            <a:rect l="l" t="t" r="r" b="b"/>
            <a:pathLst>
              <a:path w="1761212" h="1761212">
                <a:moveTo>
                  <a:pt x="0" y="0"/>
                </a:moveTo>
                <a:lnTo>
                  <a:pt x="1761212" y="0"/>
                </a:lnTo>
                <a:lnTo>
                  <a:pt x="1761212" y="1761212"/>
                </a:lnTo>
                <a:lnTo>
                  <a:pt x="0" y="1761212"/>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ZA"/>
          </a:p>
        </p:txBody>
      </p:sp>
      <p:sp>
        <p:nvSpPr>
          <p:cNvPr id="4" name="AutoShape 4"/>
          <p:cNvSpPr/>
          <p:nvPr/>
        </p:nvSpPr>
        <p:spPr>
          <a:xfrm>
            <a:off x="9296400" y="2758502"/>
            <a:ext cx="7254652" cy="5981592"/>
          </a:xfrm>
          <a:prstGeom prst="rect">
            <a:avLst/>
          </a:prstGeom>
          <a:solidFill>
            <a:srgbClr val="12295A"/>
          </a:solidFill>
          <a:ln w="28575" cap="sq">
            <a:solidFill>
              <a:srgbClr val="000000"/>
            </a:solidFill>
            <a:prstDash val="solid"/>
            <a:miter/>
          </a:ln>
        </p:spPr>
        <p:txBody>
          <a:bodyPr/>
          <a:lstStyle/>
          <a:p>
            <a:pPr marL="441960" indent="-171450" algn="just">
              <a:lnSpc>
                <a:spcPct val="110000"/>
              </a:lnSpc>
              <a:spcBef>
                <a:spcPts val="600"/>
              </a:spcBef>
              <a:buFont typeface="Arial" panose="020B0604020202020204" pitchFamily="34" charset="0"/>
              <a:buChar char="•"/>
            </a:pPr>
            <a:r>
              <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rPr>
              <a:t>Proficiency Testing Scheme provider for coal analytical laboratories and certified reference material producer/manufacturer of coal testing methods.</a:t>
            </a:r>
          </a:p>
          <a:p>
            <a:pPr marL="441960" indent="-171450" algn="just">
              <a:lnSpc>
                <a:spcPct val="110000"/>
              </a:lnSpc>
              <a:spcBef>
                <a:spcPts val="600"/>
              </a:spcBef>
              <a:buFont typeface="Arial" panose="020B0604020202020204" pitchFamily="34" charset="0"/>
              <a:buChar char="•"/>
            </a:pPr>
            <a:r>
              <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rPr>
              <a:t>It is not SANAS accredited currently since it started operating in May 2025 and planned to fulfil this requirement Dec 2025.</a:t>
            </a:r>
          </a:p>
          <a:p>
            <a:pPr marL="441960" indent="-171450" algn="just">
              <a:lnSpc>
                <a:spcPct val="110000"/>
              </a:lnSpc>
              <a:spcBef>
                <a:spcPts val="600"/>
              </a:spcBef>
              <a:buFont typeface="Arial" panose="020B0604020202020204" pitchFamily="34" charset="0"/>
              <a:buChar char="•"/>
            </a:pPr>
            <a:r>
              <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rPr>
              <a:t>However it operates as per guidelines of:</a:t>
            </a:r>
          </a:p>
          <a:p>
            <a:pPr marL="727710" lvl="1" algn="just">
              <a:lnSpc>
                <a:spcPct val="110000"/>
              </a:lnSpc>
              <a:spcBef>
                <a:spcPts val="600"/>
              </a:spcBef>
            </a:pPr>
            <a:r>
              <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rPr>
              <a:t>- </a:t>
            </a:r>
            <a:r>
              <a:rPr lang="en-ZA" sz="2000" dirty="0">
                <a:solidFill>
                  <a:schemeClr val="bg1"/>
                </a:solidFill>
                <a:latin typeface="Arial" panose="020B0604020202020204" pitchFamily="34" charset="0"/>
                <a:ea typeface="Aptos" panose="020B0004020202020204" pitchFamily="34" charset="0"/>
                <a:cs typeface="Arial" panose="020B0604020202020204" pitchFamily="34" charset="0"/>
              </a:rPr>
              <a:t>ISO/IEC 17025 general requirements for the competence of testing and calibration laboratories.</a:t>
            </a:r>
          </a:p>
          <a:p>
            <a:pPr marL="727710" lvl="1" algn="just">
              <a:lnSpc>
                <a:spcPct val="110000"/>
              </a:lnSpc>
              <a:spcBef>
                <a:spcPts val="600"/>
              </a:spcBef>
            </a:pPr>
            <a:r>
              <a:rPr lang="en-ZA" sz="2000" dirty="0">
                <a:solidFill>
                  <a:schemeClr val="bg1"/>
                </a:solidFill>
                <a:latin typeface="Arial" panose="020B0604020202020204" pitchFamily="34" charset="0"/>
                <a:ea typeface="Aptos" panose="020B0004020202020204" pitchFamily="34" charset="0"/>
                <a:cs typeface="Arial" panose="020B0604020202020204" pitchFamily="34" charset="0"/>
              </a:rPr>
              <a:t>- ISO/IEC 17043 general requirements for the competence of proficiency testing providers</a:t>
            </a:r>
          </a:p>
          <a:p>
            <a:pPr marL="727710" lvl="1" algn="just">
              <a:lnSpc>
                <a:spcPct val="110000"/>
              </a:lnSpc>
              <a:spcBef>
                <a:spcPts val="600"/>
              </a:spcBef>
            </a:pPr>
            <a:r>
              <a:rPr lang="en-ZA" sz="2000" dirty="0">
                <a:solidFill>
                  <a:schemeClr val="bg1"/>
                </a:solidFill>
                <a:latin typeface="Arial" panose="020B0604020202020204" pitchFamily="34" charset="0"/>
                <a:ea typeface="Aptos" panose="020B0004020202020204" pitchFamily="34" charset="0"/>
                <a:cs typeface="Arial" panose="020B0604020202020204" pitchFamily="34" charset="0"/>
              </a:rPr>
              <a:t>- ISO/IEC 17034 general requirements for the competence of reference material producers. </a:t>
            </a:r>
            <a:endPar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endParaRPr>
          </a:p>
          <a:p>
            <a:pPr marL="270510" algn="just">
              <a:lnSpc>
                <a:spcPct val="110000"/>
              </a:lnSpc>
              <a:spcBef>
                <a:spcPts val="600"/>
              </a:spcBef>
            </a:pPr>
            <a:endParaRPr lang="en-ZA" dirty="0">
              <a:solidFill>
                <a:schemeClr val="bg1"/>
              </a:solidFill>
              <a:latin typeface="Arial" panose="020B0604020202020204" pitchFamily="34" charset="0"/>
              <a:ea typeface="MS PGothic" panose="020B0600070205080204" pitchFamily="34" charset="-128"/>
              <a:cs typeface="Arial" panose="020B0604020202020204" pitchFamily="34" charset="0"/>
            </a:endParaRPr>
          </a:p>
        </p:txBody>
      </p:sp>
      <p:sp>
        <p:nvSpPr>
          <p:cNvPr id="5" name="Freeform 5"/>
          <p:cNvSpPr/>
          <p:nvPr/>
        </p:nvSpPr>
        <p:spPr>
          <a:xfrm>
            <a:off x="-24265" y="4930720"/>
            <a:ext cx="1616648" cy="1616648"/>
          </a:xfrm>
          <a:custGeom>
            <a:avLst/>
            <a:gdLst/>
            <a:ahLst/>
            <a:cxnLst/>
            <a:rect l="l" t="t" r="r" b="b"/>
            <a:pathLst>
              <a:path w="1616648" h="1616648">
                <a:moveTo>
                  <a:pt x="0" y="0"/>
                </a:moveTo>
                <a:lnTo>
                  <a:pt x="1616648" y="0"/>
                </a:lnTo>
                <a:lnTo>
                  <a:pt x="1616648" y="1616648"/>
                </a:lnTo>
                <a:lnTo>
                  <a:pt x="0" y="1616648"/>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ZA"/>
          </a:p>
        </p:txBody>
      </p:sp>
      <p:sp>
        <p:nvSpPr>
          <p:cNvPr id="6" name="Freeform 6"/>
          <p:cNvSpPr/>
          <p:nvPr/>
        </p:nvSpPr>
        <p:spPr>
          <a:xfrm>
            <a:off x="0" y="0"/>
            <a:ext cx="1717522" cy="1717522"/>
          </a:xfrm>
          <a:custGeom>
            <a:avLst/>
            <a:gdLst/>
            <a:ahLst/>
            <a:cxnLst/>
            <a:rect l="l" t="t" r="r" b="b"/>
            <a:pathLst>
              <a:path w="1717522" h="1717522">
                <a:moveTo>
                  <a:pt x="0" y="0"/>
                </a:moveTo>
                <a:lnTo>
                  <a:pt x="1717522" y="0"/>
                </a:lnTo>
                <a:lnTo>
                  <a:pt x="1717522" y="1717522"/>
                </a:lnTo>
                <a:lnTo>
                  <a:pt x="0" y="1717522"/>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ZA"/>
          </a:p>
        </p:txBody>
      </p:sp>
      <p:sp>
        <p:nvSpPr>
          <p:cNvPr id="7" name="Freeform 7"/>
          <p:cNvSpPr/>
          <p:nvPr/>
        </p:nvSpPr>
        <p:spPr>
          <a:xfrm>
            <a:off x="16603995" y="0"/>
            <a:ext cx="1684005" cy="1684005"/>
          </a:xfrm>
          <a:custGeom>
            <a:avLst/>
            <a:gdLst/>
            <a:ahLst/>
            <a:cxnLst/>
            <a:rect l="l" t="t" r="r" b="b"/>
            <a:pathLst>
              <a:path w="1684005" h="1684005">
                <a:moveTo>
                  <a:pt x="0" y="0"/>
                </a:moveTo>
                <a:lnTo>
                  <a:pt x="1684005" y="0"/>
                </a:lnTo>
                <a:lnTo>
                  <a:pt x="1684005" y="1684005"/>
                </a:lnTo>
                <a:lnTo>
                  <a:pt x="0" y="1684005"/>
                </a:lnTo>
                <a:lnTo>
                  <a:pt x="0" y="0"/>
                </a:lnTo>
                <a:close/>
              </a:path>
            </a:pathLst>
          </a:custGeom>
          <a:blipFill>
            <a:blip r:embed="rId8"/>
            <a:stretch>
              <a:fillRect/>
            </a:stretch>
          </a:blipFill>
        </p:spPr>
        <p:txBody>
          <a:bodyPr/>
          <a:lstStyle/>
          <a:p>
            <a:endParaRPr lang="en-ZA"/>
          </a:p>
        </p:txBody>
      </p:sp>
      <p:sp>
        <p:nvSpPr>
          <p:cNvPr id="8" name="TextBox 8"/>
          <p:cNvSpPr txBox="1"/>
          <p:nvPr/>
        </p:nvSpPr>
        <p:spPr>
          <a:xfrm>
            <a:off x="2743200" y="419100"/>
            <a:ext cx="12503421" cy="1235210"/>
          </a:xfrm>
          <a:prstGeom prst="rect">
            <a:avLst/>
          </a:prstGeom>
        </p:spPr>
        <p:txBody>
          <a:bodyPr wrap="square" lIns="0" tIns="0" rIns="0" bIns="0" rtlCol="0" anchor="t">
            <a:spAutoFit/>
          </a:bodyPr>
          <a:lstStyle/>
          <a:p>
            <a:pPr marL="0" lvl="0" indent="0" algn="ctr">
              <a:lnSpc>
                <a:spcPts val="10080"/>
              </a:lnSpc>
              <a:spcBef>
                <a:spcPct val="0"/>
              </a:spcBef>
            </a:pPr>
            <a:r>
              <a:rPr lang="en-US" sz="7200" dirty="0">
                <a:solidFill>
                  <a:srgbClr val="EEF3FE"/>
                </a:solidFill>
                <a:latin typeface="DM Sans"/>
                <a:ea typeface="DM Sans"/>
                <a:cs typeface="DM Sans"/>
                <a:sym typeface="DM Sans"/>
              </a:rPr>
              <a:t>Background: company facts</a:t>
            </a:r>
          </a:p>
        </p:txBody>
      </p:sp>
      <p:grpSp>
        <p:nvGrpSpPr>
          <p:cNvPr id="9" name="Group 9"/>
          <p:cNvGrpSpPr/>
          <p:nvPr/>
        </p:nvGrpSpPr>
        <p:grpSpPr>
          <a:xfrm>
            <a:off x="1371600" y="1717522"/>
            <a:ext cx="6951522" cy="6888495"/>
            <a:chOff x="-667353" y="-5498560"/>
            <a:chExt cx="9268695" cy="9529083"/>
          </a:xfrm>
        </p:grpSpPr>
        <p:sp>
          <p:nvSpPr>
            <p:cNvPr id="10" name="TextBox 10"/>
            <p:cNvSpPr txBox="1"/>
            <p:nvPr/>
          </p:nvSpPr>
          <p:spPr>
            <a:xfrm>
              <a:off x="-667353" y="-3460635"/>
              <a:ext cx="9268695" cy="7491158"/>
            </a:xfrm>
            <a:prstGeom prst="rect">
              <a:avLst/>
            </a:prstGeom>
          </p:spPr>
          <p:txBody>
            <a:bodyPr wrap="square" lIns="0" tIns="0" rIns="0" bIns="0" rtlCol="0" anchor="t">
              <a:spAutoFit/>
            </a:bodyPr>
            <a:lstStyle/>
            <a:p>
              <a:pPr marL="0" lvl="0" indent="0" algn="ctr">
                <a:lnSpc>
                  <a:spcPts val="2940"/>
                </a:lnSpc>
                <a:spcBef>
                  <a:spcPct val="0"/>
                </a:spcBef>
              </a:pPr>
              <a:endParaRPr lang="en-US" sz="2100" dirty="0">
                <a:solidFill>
                  <a:srgbClr val="EEF3FE"/>
                </a:solidFill>
                <a:latin typeface="DM Sans"/>
                <a:ea typeface="DM Sans"/>
                <a:cs typeface="DM Sans"/>
                <a:sym typeface="DM Sans"/>
              </a:endParaRPr>
            </a:p>
          </p:txBody>
        </p:sp>
        <p:sp>
          <p:nvSpPr>
            <p:cNvPr id="11" name="TextBox 11"/>
            <p:cNvSpPr txBox="1"/>
            <p:nvPr/>
          </p:nvSpPr>
          <p:spPr>
            <a:xfrm>
              <a:off x="-372976" y="-5498560"/>
              <a:ext cx="8306964" cy="1352579"/>
            </a:xfrm>
            <a:prstGeom prst="rect">
              <a:avLst/>
            </a:prstGeom>
          </p:spPr>
          <p:txBody>
            <a:bodyPr wrap="square" lIns="0" tIns="0" rIns="0" bIns="0" rtlCol="0" anchor="t">
              <a:spAutoFit/>
            </a:bodyPr>
            <a:lstStyle/>
            <a:p>
              <a:pPr algn="ctr">
                <a:lnSpc>
                  <a:spcPts val="3919"/>
                </a:lnSpc>
                <a:spcBef>
                  <a:spcPct val="0"/>
                </a:spcBef>
              </a:pPr>
              <a:r>
                <a:rPr lang="en-US" sz="2799" b="1" dirty="0">
                  <a:solidFill>
                    <a:srgbClr val="EEF3FE"/>
                  </a:solidFill>
                  <a:latin typeface="DM Sans Bold"/>
                  <a:sym typeface="DM Sans Bold"/>
                </a:rPr>
                <a:t>Background on Director and business profile</a:t>
              </a:r>
            </a:p>
          </p:txBody>
        </p:sp>
      </p:grpSp>
      <p:sp>
        <p:nvSpPr>
          <p:cNvPr id="14" name="TextBox 14"/>
          <p:cNvSpPr txBox="1"/>
          <p:nvPr/>
        </p:nvSpPr>
        <p:spPr>
          <a:xfrm>
            <a:off x="9744097" y="1717522"/>
            <a:ext cx="6306440" cy="477631"/>
          </a:xfrm>
          <a:prstGeom prst="rect">
            <a:avLst/>
          </a:prstGeom>
        </p:spPr>
        <p:txBody>
          <a:bodyPr wrap="square" lIns="0" tIns="0" rIns="0" bIns="0" rtlCol="0" anchor="t">
            <a:spAutoFit/>
          </a:bodyPr>
          <a:lstStyle/>
          <a:p>
            <a:pPr marL="0" lvl="0" indent="0" algn="ctr">
              <a:lnSpc>
                <a:spcPts val="3919"/>
              </a:lnSpc>
              <a:spcBef>
                <a:spcPct val="0"/>
              </a:spcBef>
            </a:pPr>
            <a:r>
              <a:rPr lang="en-US" sz="2799" b="1" dirty="0">
                <a:solidFill>
                  <a:srgbClr val="EEF3FE"/>
                </a:solidFill>
                <a:latin typeface="DM Sans Bold"/>
                <a:ea typeface="DM Sans Bold"/>
                <a:cs typeface="DM Sans Bold"/>
                <a:sym typeface="DM Sans Bold"/>
              </a:rPr>
              <a:t>Core Service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2295A"/>
        </a:solidFill>
        <a:effectLst/>
      </p:bgPr>
    </p:bg>
    <p:spTree>
      <p:nvGrpSpPr>
        <p:cNvPr id="1" name="">
          <a:extLst>
            <a:ext uri="{FF2B5EF4-FFF2-40B4-BE49-F238E27FC236}">
              <a16:creationId xmlns:a16="http://schemas.microsoft.com/office/drawing/2014/main" id="{A1BA93BD-4426-D413-D217-39C50112835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FC6629C-5B09-BA16-1EFE-197C0E148E0E}"/>
              </a:ext>
            </a:extLst>
          </p:cNvPr>
          <p:cNvSpPr/>
          <p:nvPr/>
        </p:nvSpPr>
        <p:spPr>
          <a:xfrm>
            <a:off x="1592383" y="2758502"/>
            <a:ext cx="6951522" cy="5981592"/>
          </a:xfrm>
          <a:prstGeom prst="rect">
            <a:avLst/>
          </a:prstGeom>
          <a:solidFill>
            <a:srgbClr val="12295A"/>
          </a:solidFill>
          <a:ln w="28575" cap="sq">
            <a:solidFill>
              <a:srgbClr val="000000"/>
            </a:solidFill>
            <a:prstDash val="solid"/>
            <a:miter/>
          </a:ln>
        </p:spPr>
        <p:txBody>
          <a:bodyPr/>
          <a:lstStyle/>
          <a:p>
            <a:pPr marL="441960" indent="-171450" algn="just">
              <a:lnSpc>
                <a:spcPct val="110000"/>
              </a:lnSpc>
              <a:spcBef>
                <a:spcPts val="600"/>
              </a:spcBef>
              <a:buFont typeface="Arial" panose="020B0604020202020204" pitchFamily="34" charset="0"/>
              <a:buChar char="•"/>
            </a:pPr>
            <a:r>
              <a:rPr lang="en-GB" sz="2000" dirty="0">
                <a:solidFill>
                  <a:schemeClr val="bg1"/>
                </a:solidFill>
                <a:latin typeface="Arial" panose="020B0604020202020204" pitchFamily="34" charset="0"/>
                <a:ea typeface="MS PGothic" panose="020B0600070205080204" pitchFamily="34" charset="-128"/>
                <a:cs typeface="Arial" panose="020B0604020202020204" pitchFamily="34" charset="0"/>
              </a:rPr>
              <a:t>Siza Coal Services –  participating with all nine laboratories</a:t>
            </a:r>
          </a:p>
          <a:p>
            <a:pPr marL="441960" indent="-171450" algn="just">
              <a:lnSpc>
                <a:spcPct val="110000"/>
              </a:lnSpc>
              <a:spcBef>
                <a:spcPts val="600"/>
              </a:spcBef>
              <a:buFont typeface="Arial" panose="020B0604020202020204" pitchFamily="34" charset="0"/>
              <a:buChar char="•"/>
            </a:pPr>
            <a:r>
              <a:rPr lang="en-GB" sz="2000" dirty="0" err="1">
                <a:solidFill>
                  <a:schemeClr val="bg1"/>
                </a:solidFill>
                <a:latin typeface="Arial" panose="020B0604020202020204" pitchFamily="34" charset="0"/>
                <a:ea typeface="MS PGothic" panose="020B0600070205080204" pitchFamily="34" charset="-128"/>
                <a:cs typeface="Arial" panose="020B0604020202020204" pitchFamily="34" charset="0"/>
              </a:rPr>
              <a:t>Umzamo</a:t>
            </a:r>
            <a:r>
              <a:rPr lang="en-GB" sz="2000" dirty="0">
                <a:solidFill>
                  <a:schemeClr val="bg1"/>
                </a:solidFill>
                <a:latin typeface="Arial" panose="020B0604020202020204" pitchFamily="34" charset="0"/>
                <a:ea typeface="MS PGothic" panose="020B0600070205080204" pitchFamily="34" charset="-128"/>
                <a:cs typeface="Arial" panose="020B0604020202020204" pitchFamily="34" charset="0"/>
              </a:rPr>
              <a:t> Analytical Services – participating with all six laboratories</a:t>
            </a:r>
          </a:p>
          <a:p>
            <a:pPr marL="441960" indent="-171450" algn="just">
              <a:lnSpc>
                <a:spcPct val="110000"/>
              </a:lnSpc>
              <a:spcBef>
                <a:spcPts val="600"/>
              </a:spcBef>
              <a:buFont typeface="Arial" panose="020B0604020202020204" pitchFamily="34" charset="0"/>
              <a:buChar char="•"/>
            </a:pPr>
            <a:r>
              <a:rPr lang="en-GB" sz="2000" dirty="0" err="1">
                <a:solidFill>
                  <a:schemeClr val="bg1"/>
                </a:solidFill>
                <a:latin typeface="Arial" panose="020B0604020202020204" pitchFamily="34" charset="0"/>
                <a:ea typeface="MS PGothic" panose="020B0600070205080204" pitchFamily="34" charset="-128"/>
                <a:cs typeface="Arial" panose="020B0604020202020204" pitchFamily="34" charset="0"/>
              </a:rPr>
              <a:t>Mfulawamanzi</a:t>
            </a:r>
            <a:r>
              <a:rPr lang="en-GB" sz="2000" dirty="0">
                <a:solidFill>
                  <a:schemeClr val="bg1"/>
                </a:solidFill>
                <a:latin typeface="Arial" panose="020B0604020202020204" pitchFamily="34" charset="0"/>
                <a:ea typeface="MS PGothic" panose="020B0600070205080204" pitchFamily="34" charset="-128"/>
                <a:cs typeface="Arial" panose="020B0604020202020204" pitchFamily="34" charset="0"/>
              </a:rPr>
              <a:t> Analytical Services – Participating with two laboratories</a:t>
            </a:r>
          </a:p>
          <a:p>
            <a:pPr marL="441960" indent="-171450" algn="just">
              <a:lnSpc>
                <a:spcPct val="110000"/>
              </a:lnSpc>
              <a:spcBef>
                <a:spcPts val="600"/>
              </a:spcBef>
              <a:buFont typeface="Arial" panose="020B0604020202020204" pitchFamily="34" charset="0"/>
              <a:buChar char="•"/>
            </a:pPr>
            <a:r>
              <a:rPr lang="en-GB" sz="2000" dirty="0" err="1">
                <a:solidFill>
                  <a:schemeClr val="bg1"/>
                </a:solidFill>
                <a:latin typeface="Arial" panose="020B0604020202020204" pitchFamily="34" charset="0"/>
                <a:ea typeface="MS PGothic" panose="020B0600070205080204" pitchFamily="34" charset="-128"/>
                <a:cs typeface="Arial" panose="020B0604020202020204" pitchFamily="34" charset="0"/>
              </a:rPr>
              <a:t>Sibonisiwe</a:t>
            </a:r>
            <a:r>
              <a:rPr lang="en-GB" sz="2000" dirty="0">
                <a:solidFill>
                  <a:schemeClr val="bg1"/>
                </a:solidFill>
                <a:latin typeface="Arial" panose="020B0604020202020204" pitchFamily="34" charset="0"/>
                <a:ea typeface="MS PGothic" panose="020B0600070205080204" pitchFamily="34" charset="-128"/>
                <a:cs typeface="Arial" panose="020B0604020202020204" pitchFamily="34" charset="0"/>
              </a:rPr>
              <a:t> Analytical Services – Participating with all three laboratories</a:t>
            </a:r>
          </a:p>
          <a:p>
            <a:pPr marL="441960" indent="-171450" algn="just">
              <a:lnSpc>
                <a:spcPct val="110000"/>
              </a:lnSpc>
              <a:spcBef>
                <a:spcPts val="600"/>
              </a:spcBef>
              <a:buFont typeface="Arial" panose="020B0604020202020204" pitchFamily="34" charset="0"/>
              <a:buChar char="•"/>
            </a:pPr>
            <a:r>
              <a:rPr lang="en-GB" sz="2000" dirty="0" err="1">
                <a:solidFill>
                  <a:schemeClr val="bg1"/>
                </a:solidFill>
                <a:latin typeface="Arial" panose="020B0604020202020204" pitchFamily="34" charset="0"/>
                <a:ea typeface="MS PGothic" panose="020B0600070205080204" pitchFamily="34" charset="-128"/>
                <a:cs typeface="Arial" panose="020B0604020202020204" pitchFamily="34" charset="0"/>
              </a:rPr>
              <a:t>Ronewa</a:t>
            </a:r>
            <a:r>
              <a:rPr lang="en-GB" sz="2000" dirty="0">
                <a:solidFill>
                  <a:schemeClr val="bg1"/>
                </a:solidFill>
                <a:latin typeface="Arial" panose="020B0604020202020204" pitchFamily="34" charset="0"/>
                <a:ea typeface="MS PGothic" panose="020B0600070205080204" pitchFamily="34" charset="-128"/>
                <a:cs typeface="Arial" panose="020B0604020202020204" pitchFamily="34" charset="0"/>
              </a:rPr>
              <a:t> Analytical Services – participating with all three laboratories</a:t>
            </a:r>
          </a:p>
          <a:p>
            <a:pPr marL="441960" indent="-171450" algn="just">
              <a:lnSpc>
                <a:spcPct val="110000"/>
              </a:lnSpc>
              <a:spcBef>
                <a:spcPts val="600"/>
              </a:spcBef>
              <a:buFont typeface="Arial" panose="020B0604020202020204" pitchFamily="34" charset="0"/>
              <a:buChar char="•"/>
            </a:pPr>
            <a:r>
              <a:rPr lang="en-GB" sz="2000" dirty="0">
                <a:solidFill>
                  <a:schemeClr val="bg1"/>
                </a:solidFill>
                <a:latin typeface="Arial" panose="020B0604020202020204" pitchFamily="34" charset="0"/>
                <a:ea typeface="MS PGothic" panose="020B0600070205080204" pitchFamily="34" charset="-128"/>
                <a:cs typeface="Arial" panose="020B0604020202020204" pitchFamily="34" charset="0"/>
              </a:rPr>
              <a:t>Noko Analytical Services – Participating with two laboratories</a:t>
            </a:r>
          </a:p>
          <a:p>
            <a:pPr marL="441960" indent="-171450" algn="just">
              <a:lnSpc>
                <a:spcPct val="110000"/>
              </a:lnSpc>
              <a:spcBef>
                <a:spcPts val="600"/>
              </a:spcBef>
              <a:buFont typeface="Arial" panose="020B0604020202020204" pitchFamily="34" charset="0"/>
              <a:buChar char="•"/>
            </a:pPr>
            <a:endParaRPr lang="en-GB" sz="1400" dirty="0">
              <a:solidFill>
                <a:schemeClr val="bg1"/>
              </a:solidFill>
              <a:latin typeface="Arial" panose="020B0604020202020204" pitchFamily="34" charset="0"/>
              <a:ea typeface="MS PGothic" panose="020B0600070205080204" pitchFamily="34" charset="-128"/>
              <a:cs typeface="Arial" panose="020B0604020202020204" pitchFamily="34" charset="0"/>
            </a:endParaRPr>
          </a:p>
          <a:p>
            <a:pPr marL="441960" indent="-171450" algn="just">
              <a:lnSpc>
                <a:spcPct val="110000"/>
              </a:lnSpc>
              <a:spcBef>
                <a:spcPts val="600"/>
              </a:spcBef>
              <a:buFont typeface="Arial" panose="020B0604020202020204" pitchFamily="34" charset="0"/>
              <a:buChar char="•"/>
            </a:pPr>
            <a:endParaRPr lang="en-GB" sz="1400" dirty="0">
              <a:solidFill>
                <a:schemeClr val="bg1"/>
              </a:solidFill>
              <a:latin typeface="Arial" panose="020B0604020202020204" pitchFamily="34" charset="0"/>
              <a:ea typeface="MS PGothic" panose="020B0600070205080204" pitchFamily="34" charset="-128"/>
              <a:cs typeface="Arial" panose="020B0604020202020204" pitchFamily="34" charset="0"/>
            </a:endParaRPr>
          </a:p>
          <a:p>
            <a:pPr marL="441960" indent="-171450" algn="just">
              <a:lnSpc>
                <a:spcPct val="110000"/>
              </a:lnSpc>
              <a:spcBef>
                <a:spcPts val="600"/>
              </a:spcBef>
              <a:buFont typeface="Arial" panose="020B0604020202020204" pitchFamily="34" charset="0"/>
              <a:buChar char="•"/>
            </a:pPr>
            <a:endParaRPr lang="en-GB" sz="1400" dirty="0">
              <a:solidFill>
                <a:schemeClr val="bg1"/>
              </a:solidFill>
              <a:latin typeface="Arial" panose="020B0604020202020204" pitchFamily="34" charset="0"/>
              <a:ea typeface="MS PGothic" panose="020B0600070205080204" pitchFamily="34" charset="-128"/>
              <a:cs typeface="Arial" panose="020B0604020202020204" pitchFamily="34" charset="0"/>
            </a:endParaRPr>
          </a:p>
          <a:p>
            <a:pPr marL="441960" indent="-171450" algn="just">
              <a:lnSpc>
                <a:spcPct val="110000"/>
              </a:lnSpc>
              <a:spcBef>
                <a:spcPts val="600"/>
              </a:spcBef>
              <a:buFont typeface="Arial" panose="020B0604020202020204" pitchFamily="34" charset="0"/>
              <a:buChar char="•"/>
            </a:pPr>
            <a:endParaRPr lang="en-GB" sz="2000" dirty="0">
              <a:solidFill>
                <a:schemeClr val="bg1"/>
              </a:solidFill>
              <a:latin typeface="Arial" panose="020B0604020202020204" pitchFamily="34" charset="0"/>
              <a:ea typeface="MS PGothic" panose="020B0600070205080204" pitchFamily="34" charset="-128"/>
              <a:cs typeface="Arial" panose="020B0604020202020204" pitchFamily="34" charset="0"/>
            </a:endParaRPr>
          </a:p>
        </p:txBody>
      </p:sp>
      <p:sp>
        <p:nvSpPr>
          <p:cNvPr id="3" name="Freeform 3">
            <a:extLst>
              <a:ext uri="{FF2B5EF4-FFF2-40B4-BE49-F238E27FC236}">
                <a16:creationId xmlns:a16="http://schemas.microsoft.com/office/drawing/2014/main" id="{324A464D-BDA4-3FC6-26AF-E134D0EE5AA6}"/>
              </a:ext>
            </a:extLst>
          </p:cNvPr>
          <p:cNvSpPr/>
          <p:nvPr/>
        </p:nvSpPr>
        <p:spPr>
          <a:xfrm>
            <a:off x="16526788" y="4930720"/>
            <a:ext cx="1761212" cy="1761212"/>
          </a:xfrm>
          <a:custGeom>
            <a:avLst/>
            <a:gdLst/>
            <a:ahLst/>
            <a:cxnLst/>
            <a:rect l="l" t="t" r="r" b="b"/>
            <a:pathLst>
              <a:path w="1761212" h="1761212">
                <a:moveTo>
                  <a:pt x="0" y="0"/>
                </a:moveTo>
                <a:lnTo>
                  <a:pt x="1761212" y="0"/>
                </a:lnTo>
                <a:lnTo>
                  <a:pt x="1761212" y="1761212"/>
                </a:lnTo>
                <a:lnTo>
                  <a:pt x="0" y="1761212"/>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ZA"/>
          </a:p>
        </p:txBody>
      </p:sp>
      <p:sp>
        <p:nvSpPr>
          <p:cNvPr id="4" name="AutoShape 4">
            <a:extLst>
              <a:ext uri="{FF2B5EF4-FFF2-40B4-BE49-F238E27FC236}">
                <a16:creationId xmlns:a16="http://schemas.microsoft.com/office/drawing/2014/main" id="{42B24580-7962-B1DD-95B1-8ADF99C26EFE}"/>
              </a:ext>
            </a:extLst>
          </p:cNvPr>
          <p:cNvSpPr/>
          <p:nvPr/>
        </p:nvSpPr>
        <p:spPr>
          <a:xfrm>
            <a:off x="9296400" y="2758502"/>
            <a:ext cx="7254652" cy="5981592"/>
          </a:xfrm>
          <a:prstGeom prst="rect">
            <a:avLst/>
          </a:prstGeom>
          <a:solidFill>
            <a:srgbClr val="12295A"/>
          </a:solidFill>
          <a:ln w="28575" cap="sq">
            <a:solidFill>
              <a:srgbClr val="000000"/>
            </a:solidFill>
            <a:prstDash val="solid"/>
            <a:miter/>
          </a:ln>
        </p:spPr>
        <p:txBody>
          <a:bodyPr/>
          <a:lstStyle/>
          <a:p>
            <a:pPr marL="441960" indent="-171450" algn="just">
              <a:lnSpc>
                <a:spcPct val="110000"/>
              </a:lnSpc>
              <a:spcBef>
                <a:spcPts val="600"/>
              </a:spcBef>
              <a:buFont typeface="Arial" panose="020B0604020202020204" pitchFamily="34" charset="0"/>
              <a:buChar char="•"/>
            </a:pPr>
            <a:r>
              <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rPr>
              <a:t>All Eskom coal laboratories</a:t>
            </a:r>
          </a:p>
          <a:p>
            <a:pPr marL="441960" indent="-171450" algn="just">
              <a:lnSpc>
                <a:spcPct val="110000"/>
              </a:lnSpc>
              <a:spcBef>
                <a:spcPts val="600"/>
              </a:spcBef>
              <a:buFont typeface="Arial" panose="020B0604020202020204" pitchFamily="34" charset="0"/>
              <a:buChar char="•"/>
            </a:pPr>
            <a:r>
              <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rPr>
              <a:t>All Exxaro coal laboratories</a:t>
            </a:r>
          </a:p>
          <a:p>
            <a:pPr marL="441960" indent="-171450" algn="just">
              <a:lnSpc>
                <a:spcPct val="110000"/>
              </a:lnSpc>
              <a:spcBef>
                <a:spcPts val="600"/>
              </a:spcBef>
              <a:buFont typeface="Arial" panose="020B0604020202020204" pitchFamily="34" charset="0"/>
              <a:buChar char="•"/>
            </a:pPr>
            <a:r>
              <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rPr>
              <a:t>All </a:t>
            </a:r>
            <a:r>
              <a:rPr lang="en-ZA" sz="2000" dirty="0" err="1">
                <a:solidFill>
                  <a:schemeClr val="bg1"/>
                </a:solidFill>
                <a:latin typeface="Arial" panose="020B0604020202020204" pitchFamily="34" charset="0"/>
                <a:ea typeface="MS PGothic" panose="020B0600070205080204" pitchFamily="34" charset="-128"/>
                <a:cs typeface="Arial" panose="020B0604020202020204" pitchFamily="34" charset="0"/>
              </a:rPr>
              <a:t>Seriti</a:t>
            </a:r>
            <a:r>
              <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rPr>
              <a:t> coal laboratories</a:t>
            </a:r>
          </a:p>
          <a:p>
            <a:pPr marL="441960" indent="-171450" algn="just">
              <a:lnSpc>
                <a:spcPct val="110000"/>
              </a:lnSpc>
              <a:spcBef>
                <a:spcPts val="600"/>
              </a:spcBef>
              <a:buFont typeface="Arial" panose="020B0604020202020204" pitchFamily="34" charset="0"/>
              <a:buChar char="•"/>
            </a:pPr>
            <a:r>
              <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rPr>
              <a:t>All laboratories testing coal in South Africa, Africa and outside of Africa.</a:t>
            </a:r>
          </a:p>
          <a:p>
            <a:pPr marL="270510" algn="just">
              <a:lnSpc>
                <a:spcPct val="110000"/>
              </a:lnSpc>
              <a:spcBef>
                <a:spcPts val="600"/>
              </a:spcBef>
            </a:pPr>
            <a:endPar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endParaRPr>
          </a:p>
        </p:txBody>
      </p:sp>
      <p:sp>
        <p:nvSpPr>
          <p:cNvPr id="5" name="Freeform 5">
            <a:extLst>
              <a:ext uri="{FF2B5EF4-FFF2-40B4-BE49-F238E27FC236}">
                <a16:creationId xmlns:a16="http://schemas.microsoft.com/office/drawing/2014/main" id="{E094339F-05AA-9C26-E770-F5154EBCC303}"/>
              </a:ext>
            </a:extLst>
          </p:cNvPr>
          <p:cNvSpPr/>
          <p:nvPr/>
        </p:nvSpPr>
        <p:spPr>
          <a:xfrm>
            <a:off x="-24265" y="4930720"/>
            <a:ext cx="1616648" cy="1616648"/>
          </a:xfrm>
          <a:custGeom>
            <a:avLst/>
            <a:gdLst/>
            <a:ahLst/>
            <a:cxnLst/>
            <a:rect l="l" t="t" r="r" b="b"/>
            <a:pathLst>
              <a:path w="1616648" h="1616648">
                <a:moveTo>
                  <a:pt x="0" y="0"/>
                </a:moveTo>
                <a:lnTo>
                  <a:pt x="1616648" y="0"/>
                </a:lnTo>
                <a:lnTo>
                  <a:pt x="1616648" y="1616648"/>
                </a:lnTo>
                <a:lnTo>
                  <a:pt x="0" y="1616648"/>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ZA"/>
          </a:p>
        </p:txBody>
      </p:sp>
      <p:sp>
        <p:nvSpPr>
          <p:cNvPr id="6" name="Freeform 6">
            <a:extLst>
              <a:ext uri="{FF2B5EF4-FFF2-40B4-BE49-F238E27FC236}">
                <a16:creationId xmlns:a16="http://schemas.microsoft.com/office/drawing/2014/main" id="{FA811179-1564-9B1C-55DB-AA3204636108}"/>
              </a:ext>
            </a:extLst>
          </p:cNvPr>
          <p:cNvSpPr/>
          <p:nvPr/>
        </p:nvSpPr>
        <p:spPr>
          <a:xfrm>
            <a:off x="0" y="0"/>
            <a:ext cx="1717522" cy="1717522"/>
          </a:xfrm>
          <a:custGeom>
            <a:avLst/>
            <a:gdLst/>
            <a:ahLst/>
            <a:cxnLst/>
            <a:rect l="l" t="t" r="r" b="b"/>
            <a:pathLst>
              <a:path w="1717522" h="1717522">
                <a:moveTo>
                  <a:pt x="0" y="0"/>
                </a:moveTo>
                <a:lnTo>
                  <a:pt x="1717522" y="0"/>
                </a:lnTo>
                <a:lnTo>
                  <a:pt x="1717522" y="1717522"/>
                </a:lnTo>
                <a:lnTo>
                  <a:pt x="0" y="1717522"/>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ZA"/>
          </a:p>
        </p:txBody>
      </p:sp>
      <p:sp>
        <p:nvSpPr>
          <p:cNvPr id="7" name="Freeform 7">
            <a:extLst>
              <a:ext uri="{FF2B5EF4-FFF2-40B4-BE49-F238E27FC236}">
                <a16:creationId xmlns:a16="http://schemas.microsoft.com/office/drawing/2014/main" id="{9B452324-D10B-8D24-FCE2-A7F0F19F2683}"/>
              </a:ext>
            </a:extLst>
          </p:cNvPr>
          <p:cNvSpPr/>
          <p:nvPr/>
        </p:nvSpPr>
        <p:spPr>
          <a:xfrm>
            <a:off x="16603995" y="0"/>
            <a:ext cx="1684005" cy="1684005"/>
          </a:xfrm>
          <a:custGeom>
            <a:avLst/>
            <a:gdLst/>
            <a:ahLst/>
            <a:cxnLst/>
            <a:rect l="l" t="t" r="r" b="b"/>
            <a:pathLst>
              <a:path w="1684005" h="1684005">
                <a:moveTo>
                  <a:pt x="0" y="0"/>
                </a:moveTo>
                <a:lnTo>
                  <a:pt x="1684005" y="0"/>
                </a:lnTo>
                <a:lnTo>
                  <a:pt x="1684005" y="1684005"/>
                </a:lnTo>
                <a:lnTo>
                  <a:pt x="0" y="1684005"/>
                </a:lnTo>
                <a:lnTo>
                  <a:pt x="0" y="0"/>
                </a:lnTo>
                <a:close/>
              </a:path>
            </a:pathLst>
          </a:custGeom>
          <a:blipFill>
            <a:blip r:embed="rId8"/>
            <a:stretch>
              <a:fillRect/>
            </a:stretch>
          </a:blipFill>
        </p:spPr>
        <p:txBody>
          <a:bodyPr/>
          <a:lstStyle/>
          <a:p>
            <a:endParaRPr lang="en-ZA"/>
          </a:p>
        </p:txBody>
      </p:sp>
      <p:sp>
        <p:nvSpPr>
          <p:cNvPr id="8" name="TextBox 8">
            <a:extLst>
              <a:ext uri="{FF2B5EF4-FFF2-40B4-BE49-F238E27FC236}">
                <a16:creationId xmlns:a16="http://schemas.microsoft.com/office/drawing/2014/main" id="{B7F66689-4A32-4AD7-2D92-9AB1BBE8E758}"/>
              </a:ext>
            </a:extLst>
          </p:cNvPr>
          <p:cNvSpPr txBox="1"/>
          <p:nvPr/>
        </p:nvSpPr>
        <p:spPr>
          <a:xfrm>
            <a:off x="2743200" y="419100"/>
            <a:ext cx="12503421" cy="1235210"/>
          </a:xfrm>
          <a:prstGeom prst="rect">
            <a:avLst/>
          </a:prstGeom>
        </p:spPr>
        <p:txBody>
          <a:bodyPr wrap="square" lIns="0" tIns="0" rIns="0" bIns="0" rtlCol="0" anchor="t">
            <a:spAutoFit/>
          </a:bodyPr>
          <a:lstStyle/>
          <a:p>
            <a:pPr marL="0" lvl="0" indent="0" algn="ctr">
              <a:lnSpc>
                <a:spcPts val="10080"/>
              </a:lnSpc>
              <a:spcBef>
                <a:spcPct val="0"/>
              </a:spcBef>
            </a:pPr>
            <a:r>
              <a:rPr lang="en-US" sz="7200" dirty="0">
                <a:solidFill>
                  <a:srgbClr val="EEF3FE"/>
                </a:solidFill>
                <a:latin typeface="DM Sans"/>
                <a:ea typeface="DM Sans"/>
                <a:cs typeface="DM Sans"/>
                <a:sym typeface="DM Sans"/>
              </a:rPr>
              <a:t>Client List</a:t>
            </a:r>
          </a:p>
        </p:txBody>
      </p:sp>
      <p:grpSp>
        <p:nvGrpSpPr>
          <p:cNvPr id="9" name="Group 9">
            <a:extLst>
              <a:ext uri="{FF2B5EF4-FFF2-40B4-BE49-F238E27FC236}">
                <a16:creationId xmlns:a16="http://schemas.microsoft.com/office/drawing/2014/main" id="{3D548E05-8B88-2A10-AF23-F2CF30DEF0CE}"/>
              </a:ext>
            </a:extLst>
          </p:cNvPr>
          <p:cNvGrpSpPr/>
          <p:nvPr/>
        </p:nvGrpSpPr>
        <p:grpSpPr>
          <a:xfrm>
            <a:off x="1371600" y="1717522"/>
            <a:ext cx="6951522" cy="6888495"/>
            <a:chOff x="-667353" y="-5498560"/>
            <a:chExt cx="9268695" cy="9529083"/>
          </a:xfrm>
        </p:grpSpPr>
        <p:sp>
          <p:nvSpPr>
            <p:cNvPr id="10" name="TextBox 10">
              <a:extLst>
                <a:ext uri="{FF2B5EF4-FFF2-40B4-BE49-F238E27FC236}">
                  <a16:creationId xmlns:a16="http://schemas.microsoft.com/office/drawing/2014/main" id="{9DD908C2-8856-C87D-1239-5F1100EAFA26}"/>
                </a:ext>
              </a:extLst>
            </p:cNvPr>
            <p:cNvSpPr txBox="1"/>
            <p:nvPr/>
          </p:nvSpPr>
          <p:spPr>
            <a:xfrm>
              <a:off x="-667353" y="-3460635"/>
              <a:ext cx="9268695" cy="7491158"/>
            </a:xfrm>
            <a:prstGeom prst="rect">
              <a:avLst/>
            </a:prstGeom>
          </p:spPr>
          <p:txBody>
            <a:bodyPr wrap="square" lIns="0" tIns="0" rIns="0" bIns="0" rtlCol="0" anchor="t">
              <a:spAutoFit/>
            </a:bodyPr>
            <a:lstStyle/>
            <a:p>
              <a:pPr marL="0" lvl="0" indent="0" algn="ctr">
                <a:lnSpc>
                  <a:spcPts val="2940"/>
                </a:lnSpc>
                <a:spcBef>
                  <a:spcPct val="0"/>
                </a:spcBef>
              </a:pPr>
              <a:endParaRPr lang="en-US" sz="2100" dirty="0">
                <a:solidFill>
                  <a:srgbClr val="EEF3FE"/>
                </a:solidFill>
                <a:latin typeface="DM Sans"/>
                <a:ea typeface="DM Sans"/>
                <a:cs typeface="DM Sans"/>
                <a:sym typeface="DM Sans"/>
              </a:endParaRPr>
            </a:p>
          </p:txBody>
        </p:sp>
        <p:sp>
          <p:nvSpPr>
            <p:cNvPr id="11" name="TextBox 11">
              <a:extLst>
                <a:ext uri="{FF2B5EF4-FFF2-40B4-BE49-F238E27FC236}">
                  <a16:creationId xmlns:a16="http://schemas.microsoft.com/office/drawing/2014/main" id="{B4481DA0-82B3-F2C5-B7AA-BF9013143601}"/>
                </a:ext>
              </a:extLst>
            </p:cNvPr>
            <p:cNvSpPr txBox="1"/>
            <p:nvPr/>
          </p:nvSpPr>
          <p:spPr>
            <a:xfrm>
              <a:off x="-372976" y="-5498560"/>
              <a:ext cx="8306964" cy="660723"/>
            </a:xfrm>
            <a:prstGeom prst="rect">
              <a:avLst/>
            </a:prstGeom>
          </p:spPr>
          <p:txBody>
            <a:bodyPr wrap="square" lIns="0" tIns="0" rIns="0" bIns="0" rtlCol="0" anchor="t">
              <a:spAutoFit/>
            </a:bodyPr>
            <a:lstStyle/>
            <a:p>
              <a:pPr algn="ctr">
                <a:lnSpc>
                  <a:spcPts val="3919"/>
                </a:lnSpc>
                <a:spcBef>
                  <a:spcPct val="0"/>
                </a:spcBef>
              </a:pPr>
              <a:r>
                <a:rPr lang="en-US" sz="2799" b="1" dirty="0">
                  <a:solidFill>
                    <a:srgbClr val="EEF3FE"/>
                  </a:solidFill>
                  <a:latin typeface="DM Sans Bold"/>
                  <a:sym typeface="DM Sans Bold"/>
                </a:rPr>
                <a:t>Current clients</a:t>
              </a:r>
            </a:p>
          </p:txBody>
        </p:sp>
      </p:grpSp>
      <p:sp>
        <p:nvSpPr>
          <p:cNvPr id="14" name="TextBox 14">
            <a:extLst>
              <a:ext uri="{FF2B5EF4-FFF2-40B4-BE49-F238E27FC236}">
                <a16:creationId xmlns:a16="http://schemas.microsoft.com/office/drawing/2014/main" id="{7938EA15-7AB9-E7DE-ED42-12A31DFD9FB3}"/>
              </a:ext>
            </a:extLst>
          </p:cNvPr>
          <p:cNvSpPr txBox="1"/>
          <p:nvPr/>
        </p:nvSpPr>
        <p:spPr>
          <a:xfrm>
            <a:off x="9744097" y="1717522"/>
            <a:ext cx="6306440" cy="477631"/>
          </a:xfrm>
          <a:prstGeom prst="rect">
            <a:avLst/>
          </a:prstGeom>
        </p:spPr>
        <p:txBody>
          <a:bodyPr wrap="square" lIns="0" tIns="0" rIns="0" bIns="0" rtlCol="0" anchor="t">
            <a:spAutoFit/>
          </a:bodyPr>
          <a:lstStyle/>
          <a:p>
            <a:pPr marL="0" lvl="0" indent="0" algn="ctr">
              <a:lnSpc>
                <a:spcPts val="3919"/>
              </a:lnSpc>
              <a:spcBef>
                <a:spcPct val="0"/>
              </a:spcBef>
            </a:pPr>
            <a:r>
              <a:rPr lang="en-US" sz="2799" b="1" dirty="0">
                <a:solidFill>
                  <a:srgbClr val="EEF3FE"/>
                </a:solidFill>
                <a:latin typeface="DM Sans Bold"/>
                <a:ea typeface="DM Sans Bold"/>
                <a:cs typeface="DM Sans Bold"/>
                <a:sym typeface="DM Sans Bold"/>
              </a:rPr>
              <a:t>Potential Clients</a:t>
            </a:r>
          </a:p>
        </p:txBody>
      </p:sp>
    </p:spTree>
    <p:extLst>
      <p:ext uri="{BB962C8B-B14F-4D97-AF65-F5344CB8AC3E}">
        <p14:creationId xmlns:p14="http://schemas.microsoft.com/office/powerpoint/2010/main" val="4253244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2295A"/>
        </a:solidFill>
        <a:effectLst/>
      </p:bgPr>
    </p:bg>
    <p:spTree>
      <p:nvGrpSpPr>
        <p:cNvPr id="1" name="">
          <a:extLst>
            <a:ext uri="{FF2B5EF4-FFF2-40B4-BE49-F238E27FC236}">
              <a16:creationId xmlns:a16="http://schemas.microsoft.com/office/drawing/2014/main" id="{E6A5DA98-40A5-9B41-DF03-318A3256B58B}"/>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E7B39337-9B32-A078-A9C8-811EA990D4AE}"/>
              </a:ext>
            </a:extLst>
          </p:cNvPr>
          <p:cNvSpPr/>
          <p:nvPr/>
        </p:nvSpPr>
        <p:spPr>
          <a:xfrm>
            <a:off x="16526788" y="4930720"/>
            <a:ext cx="1761212" cy="1761212"/>
          </a:xfrm>
          <a:custGeom>
            <a:avLst/>
            <a:gdLst/>
            <a:ahLst/>
            <a:cxnLst/>
            <a:rect l="l" t="t" r="r" b="b"/>
            <a:pathLst>
              <a:path w="1761212" h="1761212">
                <a:moveTo>
                  <a:pt x="0" y="0"/>
                </a:moveTo>
                <a:lnTo>
                  <a:pt x="1761212" y="0"/>
                </a:lnTo>
                <a:lnTo>
                  <a:pt x="1761212" y="1761212"/>
                </a:lnTo>
                <a:lnTo>
                  <a:pt x="0" y="1761212"/>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ZA"/>
          </a:p>
        </p:txBody>
      </p:sp>
      <p:sp>
        <p:nvSpPr>
          <p:cNvPr id="5" name="Freeform 5">
            <a:extLst>
              <a:ext uri="{FF2B5EF4-FFF2-40B4-BE49-F238E27FC236}">
                <a16:creationId xmlns:a16="http://schemas.microsoft.com/office/drawing/2014/main" id="{D49B5903-226D-0AFE-080F-1E95336A9951}"/>
              </a:ext>
            </a:extLst>
          </p:cNvPr>
          <p:cNvSpPr/>
          <p:nvPr/>
        </p:nvSpPr>
        <p:spPr>
          <a:xfrm>
            <a:off x="-24265" y="4930720"/>
            <a:ext cx="1616648" cy="1616648"/>
          </a:xfrm>
          <a:custGeom>
            <a:avLst/>
            <a:gdLst/>
            <a:ahLst/>
            <a:cxnLst/>
            <a:rect l="l" t="t" r="r" b="b"/>
            <a:pathLst>
              <a:path w="1616648" h="1616648">
                <a:moveTo>
                  <a:pt x="0" y="0"/>
                </a:moveTo>
                <a:lnTo>
                  <a:pt x="1616648" y="0"/>
                </a:lnTo>
                <a:lnTo>
                  <a:pt x="1616648" y="1616648"/>
                </a:lnTo>
                <a:lnTo>
                  <a:pt x="0" y="1616648"/>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ZA"/>
          </a:p>
        </p:txBody>
      </p:sp>
      <p:sp>
        <p:nvSpPr>
          <p:cNvPr id="6" name="Freeform 6">
            <a:extLst>
              <a:ext uri="{FF2B5EF4-FFF2-40B4-BE49-F238E27FC236}">
                <a16:creationId xmlns:a16="http://schemas.microsoft.com/office/drawing/2014/main" id="{E1A61A31-668C-CC11-ECB2-B74DC9DB554F}"/>
              </a:ext>
            </a:extLst>
          </p:cNvPr>
          <p:cNvSpPr/>
          <p:nvPr/>
        </p:nvSpPr>
        <p:spPr>
          <a:xfrm>
            <a:off x="0" y="0"/>
            <a:ext cx="1717522" cy="1717522"/>
          </a:xfrm>
          <a:custGeom>
            <a:avLst/>
            <a:gdLst/>
            <a:ahLst/>
            <a:cxnLst/>
            <a:rect l="l" t="t" r="r" b="b"/>
            <a:pathLst>
              <a:path w="1717522" h="1717522">
                <a:moveTo>
                  <a:pt x="0" y="0"/>
                </a:moveTo>
                <a:lnTo>
                  <a:pt x="1717522" y="0"/>
                </a:lnTo>
                <a:lnTo>
                  <a:pt x="1717522" y="1717522"/>
                </a:lnTo>
                <a:lnTo>
                  <a:pt x="0" y="1717522"/>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ZA"/>
          </a:p>
        </p:txBody>
      </p:sp>
      <p:sp>
        <p:nvSpPr>
          <p:cNvPr id="7" name="Freeform 7">
            <a:extLst>
              <a:ext uri="{FF2B5EF4-FFF2-40B4-BE49-F238E27FC236}">
                <a16:creationId xmlns:a16="http://schemas.microsoft.com/office/drawing/2014/main" id="{4C40C495-6934-4AC2-9CBA-2F984B556887}"/>
              </a:ext>
            </a:extLst>
          </p:cNvPr>
          <p:cNvSpPr/>
          <p:nvPr/>
        </p:nvSpPr>
        <p:spPr>
          <a:xfrm>
            <a:off x="16603995" y="0"/>
            <a:ext cx="1684005" cy="1684005"/>
          </a:xfrm>
          <a:custGeom>
            <a:avLst/>
            <a:gdLst/>
            <a:ahLst/>
            <a:cxnLst/>
            <a:rect l="l" t="t" r="r" b="b"/>
            <a:pathLst>
              <a:path w="1684005" h="1684005">
                <a:moveTo>
                  <a:pt x="0" y="0"/>
                </a:moveTo>
                <a:lnTo>
                  <a:pt x="1684005" y="0"/>
                </a:lnTo>
                <a:lnTo>
                  <a:pt x="1684005" y="1684005"/>
                </a:lnTo>
                <a:lnTo>
                  <a:pt x="0" y="1684005"/>
                </a:lnTo>
                <a:lnTo>
                  <a:pt x="0" y="0"/>
                </a:lnTo>
                <a:close/>
              </a:path>
            </a:pathLst>
          </a:custGeom>
          <a:blipFill>
            <a:blip r:embed="rId8"/>
            <a:stretch>
              <a:fillRect/>
            </a:stretch>
          </a:blipFill>
        </p:spPr>
        <p:txBody>
          <a:bodyPr/>
          <a:lstStyle/>
          <a:p>
            <a:endParaRPr lang="en-ZA"/>
          </a:p>
        </p:txBody>
      </p:sp>
      <p:sp>
        <p:nvSpPr>
          <p:cNvPr id="8" name="TextBox 8">
            <a:extLst>
              <a:ext uri="{FF2B5EF4-FFF2-40B4-BE49-F238E27FC236}">
                <a16:creationId xmlns:a16="http://schemas.microsoft.com/office/drawing/2014/main" id="{A4F30FC5-A476-CBDE-64D9-BA70F0E18EBC}"/>
              </a:ext>
            </a:extLst>
          </p:cNvPr>
          <p:cNvSpPr txBox="1"/>
          <p:nvPr/>
        </p:nvSpPr>
        <p:spPr>
          <a:xfrm>
            <a:off x="2743200" y="419100"/>
            <a:ext cx="12503421" cy="1235210"/>
          </a:xfrm>
          <a:prstGeom prst="rect">
            <a:avLst/>
          </a:prstGeom>
        </p:spPr>
        <p:txBody>
          <a:bodyPr wrap="square" lIns="0" tIns="0" rIns="0" bIns="0" rtlCol="0" anchor="t">
            <a:spAutoFit/>
          </a:bodyPr>
          <a:lstStyle/>
          <a:p>
            <a:pPr marL="0" lvl="0" indent="0" algn="ctr">
              <a:lnSpc>
                <a:spcPts val="10080"/>
              </a:lnSpc>
              <a:spcBef>
                <a:spcPct val="0"/>
              </a:spcBef>
            </a:pPr>
            <a:r>
              <a:rPr lang="en-US" sz="7200" dirty="0">
                <a:solidFill>
                  <a:srgbClr val="EEF3FE"/>
                </a:solidFill>
                <a:latin typeface="DM Sans"/>
                <a:ea typeface="DM Sans"/>
                <a:cs typeface="DM Sans"/>
                <a:sym typeface="DM Sans"/>
              </a:rPr>
              <a:t>Organogram</a:t>
            </a:r>
          </a:p>
        </p:txBody>
      </p:sp>
      <p:grpSp>
        <p:nvGrpSpPr>
          <p:cNvPr id="9" name="Group 9">
            <a:extLst>
              <a:ext uri="{FF2B5EF4-FFF2-40B4-BE49-F238E27FC236}">
                <a16:creationId xmlns:a16="http://schemas.microsoft.com/office/drawing/2014/main" id="{206A60F3-8EAA-7824-08DC-E1508DC0F608}"/>
              </a:ext>
            </a:extLst>
          </p:cNvPr>
          <p:cNvGrpSpPr/>
          <p:nvPr/>
        </p:nvGrpSpPr>
        <p:grpSpPr>
          <a:xfrm>
            <a:off x="1371600" y="1717522"/>
            <a:ext cx="6951522" cy="6888495"/>
            <a:chOff x="-667353" y="-5498560"/>
            <a:chExt cx="9268695" cy="9529083"/>
          </a:xfrm>
        </p:grpSpPr>
        <p:sp>
          <p:nvSpPr>
            <p:cNvPr id="10" name="TextBox 10">
              <a:extLst>
                <a:ext uri="{FF2B5EF4-FFF2-40B4-BE49-F238E27FC236}">
                  <a16:creationId xmlns:a16="http://schemas.microsoft.com/office/drawing/2014/main" id="{2C642247-852E-1116-76DC-5F62F865CC2D}"/>
                </a:ext>
              </a:extLst>
            </p:cNvPr>
            <p:cNvSpPr txBox="1"/>
            <p:nvPr/>
          </p:nvSpPr>
          <p:spPr>
            <a:xfrm>
              <a:off x="-667353" y="-3460635"/>
              <a:ext cx="9268695" cy="7491158"/>
            </a:xfrm>
            <a:prstGeom prst="rect">
              <a:avLst/>
            </a:prstGeom>
          </p:spPr>
          <p:txBody>
            <a:bodyPr wrap="square" lIns="0" tIns="0" rIns="0" bIns="0" rtlCol="0" anchor="t">
              <a:spAutoFit/>
            </a:bodyPr>
            <a:lstStyle/>
            <a:p>
              <a:pPr marL="0" lvl="0" indent="0" algn="ctr">
                <a:lnSpc>
                  <a:spcPts val="2940"/>
                </a:lnSpc>
                <a:spcBef>
                  <a:spcPct val="0"/>
                </a:spcBef>
              </a:pPr>
              <a:endParaRPr lang="en-US" sz="2100" dirty="0">
                <a:solidFill>
                  <a:srgbClr val="EEF3FE"/>
                </a:solidFill>
                <a:latin typeface="DM Sans"/>
                <a:ea typeface="DM Sans"/>
                <a:cs typeface="DM Sans"/>
                <a:sym typeface="DM Sans"/>
              </a:endParaRPr>
            </a:p>
          </p:txBody>
        </p:sp>
        <p:sp>
          <p:nvSpPr>
            <p:cNvPr id="11" name="TextBox 11">
              <a:extLst>
                <a:ext uri="{FF2B5EF4-FFF2-40B4-BE49-F238E27FC236}">
                  <a16:creationId xmlns:a16="http://schemas.microsoft.com/office/drawing/2014/main" id="{F073A00C-0618-0093-7498-76F16BBE041D}"/>
                </a:ext>
              </a:extLst>
            </p:cNvPr>
            <p:cNvSpPr txBox="1"/>
            <p:nvPr/>
          </p:nvSpPr>
          <p:spPr>
            <a:xfrm>
              <a:off x="-372976" y="-5498560"/>
              <a:ext cx="8306964" cy="660723"/>
            </a:xfrm>
            <a:prstGeom prst="rect">
              <a:avLst/>
            </a:prstGeom>
          </p:spPr>
          <p:txBody>
            <a:bodyPr wrap="square" lIns="0" tIns="0" rIns="0" bIns="0" rtlCol="0" anchor="t">
              <a:spAutoFit/>
            </a:bodyPr>
            <a:lstStyle/>
            <a:p>
              <a:pPr algn="ctr">
                <a:lnSpc>
                  <a:spcPts val="3919"/>
                </a:lnSpc>
                <a:spcBef>
                  <a:spcPct val="0"/>
                </a:spcBef>
              </a:pPr>
              <a:endParaRPr lang="en-US" sz="2799" b="1" dirty="0">
                <a:solidFill>
                  <a:srgbClr val="EEF3FE"/>
                </a:solidFill>
                <a:latin typeface="DM Sans Bold"/>
                <a:sym typeface="DM Sans Bold"/>
              </a:endParaRPr>
            </a:p>
          </p:txBody>
        </p:sp>
      </p:grpSp>
      <p:graphicFrame>
        <p:nvGraphicFramePr>
          <p:cNvPr id="13" name="Diagram 12">
            <a:extLst>
              <a:ext uri="{FF2B5EF4-FFF2-40B4-BE49-F238E27FC236}">
                <a16:creationId xmlns:a16="http://schemas.microsoft.com/office/drawing/2014/main" id="{92BD95B6-D4FB-721E-F5DC-DD672CCA8876}"/>
              </a:ext>
            </a:extLst>
          </p:cNvPr>
          <p:cNvGraphicFramePr/>
          <p:nvPr>
            <p:extLst>
              <p:ext uri="{D42A27DB-BD31-4B8C-83A1-F6EECF244321}">
                <p14:modId xmlns:p14="http://schemas.microsoft.com/office/powerpoint/2010/main" val="3154508833"/>
              </p:ext>
            </p:extLst>
          </p:nvPr>
        </p:nvGraphicFramePr>
        <p:xfrm>
          <a:off x="2057400" y="1717523"/>
          <a:ext cx="14249400" cy="6778778"/>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341957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2295A"/>
        </a:solidFill>
        <a:effectLst/>
      </p:bgPr>
    </p:bg>
    <p:spTree>
      <p:nvGrpSpPr>
        <p:cNvPr id="1" name="">
          <a:extLst>
            <a:ext uri="{FF2B5EF4-FFF2-40B4-BE49-F238E27FC236}">
              <a16:creationId xmlns:a16="http://schemas.microsoft.com/office/drawing/2014/main" id="{0018C5B0-6F15-3757-FFF1-D3128377BC1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A95823A-D3E7-9926-02C4-FB7000E953DA}"/>
              </a:ext>
            </a:extLst>
          </p:cNvPr>
          <p:cNvSpPr/>
          <p:nvPr/>
        </p:nvSpPr>
        <p:spPr>
          <a:xfrm>
            <a:off x="1592383" y="2324100"/>
            <a:ext cx="6951522" cy="7086600"/>
          </a:xfrm>
          <a:prstGeom prst="rect">
            <a:avLst/>
          </a:prstGeom>
          <a:solidFill>
            <a:srgbClr val="12295A"/>
          </a:solidFill>
          <a:ln w="28575" cap="sq">
            <a:solidFill>
              <a:srgbClr val="000000"/>
            </a:solidFill>
            <a:prstDash val="solid"/>
            <a:miter/>
          </a:ln>
        </p:spPr>
        <p:txBody>
          <a:bodyPr/>
          <a:lstStyle/>
          <a:p>
            <a:pPr marL="441960" indent="-171450" algn="just">
              <a:lnSpc>
                <a:spcPct val="110000"/>
              </a:lnSpc>
              <a:spcBef>
                <a:spcPts val="600"/>
              </a:spcBef>
              <a:buFont typeface="Arial" panose="020B0604020202020204" pitchFamily="34" charset="0"/>
              <a:buChar char="•"/>
            </a:pPr>
            <a:r>
              <a:rPr lang="en-GB" sz="2000" dirty="0">
                <a:solidFill>
                  <a:schemeClr val="bg1"/>
                </a:solidFill>
                <a:latin typeface="Arial" panose="020B0604020202020204" pitchFamily="34" charset="0"/>
                <a:ea typeface="MS PGothic" panose="020B0600070205080204" pitchFamily="34" charset="-128"/>
                <a:cs typeface="Arial" panose="020B0604020202020204" pitchFamily="34" charset="0"/>
              </a:rPr>
              <a:t>ISO/IEC 17025:2017 clause 7.7.2 states that laboratories shall monitor its performance by comparison with results of other laboratories. The monitoring shall be planned and reviewed and shall include, but not limited to either or both </a:t>
            </a:r>
          </a:p>
          <a:p>
            <a:pPr marL="270510" algn="just">
              <a:lnSpc>
                <a:spcPct val="110000"/>
              </a:lnSpc>
              <a:spcBef>
                <a:spcPts val="600"/>
              </a:spcBef>
            </a:pPr>
            <a:r>
              <a:rPr lang="en-GB" sz="2000" dirty="0">
                <a:solidFill>
                  <a:schemeClr val="bg1"/>
                </a:solidFill>
                <a:latin typeface="Arial" panose="020B0604020202020204" pitchFamily="34" charset="0"/>
                <a:ea typeface="MS PGothic" panose="020B0600070205080204" pitchFamily="34" charset="-128"/>
                <a:cs typeface="Arial" panose="020B0604020202020204" pitchFamily="34" charset="0"/>
              </a:rPr>
              <a:t>	- participation in proficiency testing,</a:t>
            </a:r>
          </a:p>
          <a:p>
            <a:pPr marL="270510" algn="just">
              <a:lnSpc>
                <a:spcPct val="110000"/>
              </a:lnSpc>
              <a:spcBef>
                <a:spcPts val="600"/>
              </a:spcBef>
            </a:pPr>
            <a:r>
              <a:rPr lang="en-GB" sz="2000" dirty="0">
                <a:solidFill>
                  <a:schemeClr val="bg1"/>
                </a:solidFill>
                <a:latin typeface="Arial" panose="020B0604020202020204" pitchFamily="34" charset="0"/>
                <a:ea typeface="MS PGothic" panose="020B0600070205080204" pitchFamily="34" charset="-128"/>
                <a:cs typeface="Arial" panose="020B0604020202020204" pitchFamily="34" charset="0"/>
              </a:rPr>
              <a:t>	-participating in interlaboratory comparisons other 	than   proficiency testing </a:t>
            </a:r>
          </a:p>
          <a:p>
            <a:pPr marL="441960" indent="-171450" algn="just">
              <a:lnSpc>
                <a:spcPct val="110000"/>
              </a:lnSpc>
              <a:spcBef>
                <a:spcPts val="600"/>
              </a:spcBef>
              <a:buFont typeface="Arial" panose="020B0604020202020204" pitchFamily="34" charset="0"/>
              <a:buChar char="•"/>
            </a:pPr>
            <a:r>
              <a:rPr lang="en-ZA" sz="2000" dirty="0">
                <a:solidFill>
                  <a:schemeClr val="bg1"/>
                </a:solidFill>
                <a:latin typeface="Arial" panose="020B0604020202020204" pitchFamily="34" charset="0"/>
                <a:ea typeface="Calibri" panose="020F0502020204030204" pitchFamily="34" charset="0"/>
                <a:cs typeface="Arial" panose="020B0604020202020204" pitchFamily="34" charset="0"/>
              </a:rPr>
              <a:t>SANAS R 80-06 clause 4.2 further states that it should be noted that participating in interlaboratory comparisons other than the proficiency testing should be only be envisaged when PT’s are not </a:t>
            </a:r>
            <a:r>
              <a:rPr lang="en-ZA" sz="2000" b="1" dirty="0">
                <a:solidFill>
                  <a:schemeClr val="bg1"/>
                </a:solidFill>
                <a:latin typeface="Arial" panose="020B0604020202020204" pitchFamily="34" charset="0"/>
                <a:ea typeface="Calibri" panose="020F0502020204030204" pitchFamily="34" charset="0"/>
                <a:cs typeface="Arial" panose="020B0604020202020204" pitchFamily="34" charset="0"/>
              </a:rPr>
              <a:t>available and/or appropriate: </a:t>
            </a:r>
          </a:p>
          <a:p>
            <a:pPr marL="441960" indent="-171450" algn="just">
              <a:lnSpc>
                <a:spcPct val="110000"/>
              </a:lnSpc>
              <a:spcBef>
                <a:spcPts val="600"/>
              </a:spcBef>
              <a:buFont typeface="Arial" panose="020B0604020202020204" pitchFamily="34" charset="0"/>
              <a:buChar char="•"/>
            </a:pPr>
            <a:r>
              <a:rPr lang="en-ZA" sz="2000" b="1" dirty="0">
                <a:solidFill>
                  <a:schemeClr val="bg1"/>
                </a:solidFill>
                <a:latin typeface="Arial" panose="020B0604020202020204" pitchFamily="34" charset="0"/>
                <a:ea typeface="Calibri" panose="020F0502020204030204" pitchFamily="34" charset="0"/>
                <a:cs typeface="Arial" panose="020B0604020202020204" pitchFamily="34" charset="0"/>
              </a:rPr>
              <a:t>A PT is considered available and appropriate if it is:</a:t>
            </a:r>
          </a:p>
          <a:p>
            <a:pPr marL="270510" algn="just">
              <a:lnSpc>
                <a:spcPct val="110000"/>
              </a:lnSpc>
              <a:spcBef>
                <a:spcPts val="600"/>
              </a:spcBef>
            </a:pPr>
            <a:r>
              <a:rPr lang="en-ZA" sz="2000" dirty="0">
                <a:solidFill>
                  <a:schemeClr val="bg1"/>
                </a:solidFill>
                <a:latin typeface="Arial" panose="020B0604020202020204" pitchFamily="34" charset="0"/>
                <a:ea typeface="Calibri" panose="020F0502020204030204" pitchFamily="34" charset="0"/>
                <a:cs typeface="Arial" panose="020B0604020202020204" pitchFamily="34" charset="0"/>
              </a:rPr>
              <a:t>	(ii) Organised by a PT provider accredited to 	ISO/IEC 17043:2023</a:t>
            </a:r>
          </a:p>
          <a:p>
            <a:pPr marL="270510" algn="just">
              <a:lnSpc>
                <a:spcPct val="110000"/>
              </a:lnSpc>
              <a:spcBef>
                <a:spcPts val="600"/>
              </a:spcBef>
            </a:pPr>
            <a:r>
              <a:rPr lang="en-ZA" sz="2000" dirty="0">
                <a:solidFill>
                  <a:schemeClr val="bg1"/>
                </a:solidFill>
                <a:latin typeface="Arial" panose="020B0604020202020204" pitchFamily="34" charset="0"/>
                <a:ea typeface="Calibri" panose="020F0502020204030204" pitchFamily="34" charset="0"/>
                <a:cs typeface="Arial" panose="020B0604020202020204" pitchFamily="34" charset="0"/>
              </a:rPr>
              <a:t>	(iii) Organised by or participated in accordance with 	the relevant requirements of ISO/IEC 	17043:2023.</a:t>
            </a:r>
          </a:p>
          <a:p>
            <a:pPr marL="270510" algn="just">
              <a:lnSpc>
                <a:spcPct val="110000"/>
              </a:lnSpc>
              <a:spcBef>
                <a:spcPts val="600"/>
              </a:spcBef>
            </a:pPr>
            <a:endParaRPr lang="en-ZA" sz="2000" dirty="0">
              <a:solidFill>
                <a:schemeClr val="bg1"/>
              </a:solidFill>
              <a:latin typeface="Arial" panose="020B0604020202020204" pitchFamily="34" charset="0"/>
              <a:ea typeface="Calibri" panose="020F0502020204030204" pitchFamily="34" charset="0"/>
              <a:cs typeface="Arial" panose="020B0604020202020204" pitchFamily="34" charset="0"/>
            </a:endParaRPr>
          </a:p>
        </p:txBody>
      </p:sp>
      <p:sp>
        <p:nvSpPr>
          <p:cNvPr id="3" name="Freeform 3">
            <a:extLst>
              <a:ext uri="{FF2B5EF4-FFF2-40B4-BE49-F238E27FC236}">
                <a16:creationId xmlns:a16="http://schemas.microsoft.com/office/drawing/2014/main" id="{047D87C6-F5CE-B8E1-9A47-0254D8DE0DB1}"/>
              </a:ext>
            </a:extLst>
          </p:cNvPr>
          <p:cNvSpPr/>
          <p:nvPr/>
        </p:nvSpPr>
        <p:spPr>
          <a:xfrm>
            <a:off x="16526788" y="4930720"/>
            <a:ext cx="1761212" cy="1761212"/>
          </a:xfrm>
          <a:custGeom>
            <a:avLst/>
            <a:gdLst/>
            <a:ahLst/>
            <a:cxnLst/>
            <a:rect l="l" t="t" r="r" b="b"/>
            <a:pathLst>
              <a:path w="1761212" h="1761212">
                <a:moveTo>
                  <a:pt x="0" y="0"/>
                </a:moveTo>
                <a:lnTo>
                  <a:pt x="1761212" y="0"/>
                </a:lnTo>
                <a:lnTo>
                  <a:pt x="1761212" y="1761212"/>
                </a:lnTo>
                <a:lnTo>
                  <a:pt x="0" y="1761212"/>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ZA"/>
          </a:p>
        </p:txBody>
      </p:sp>
      <p:sp>
        <p:nvSpPr>
          <p:cNvPr id="4" name="AutoShape 4">
            <a:extLst>
              <a:ext uri="{FF2B5EF4-FFF2-40B4-BE49-F238E27FC236}">
                <a16:creationId xmlns:a16="http://schemas.microsoft.com/office/drawing/2014/main" id="{8FE2584C-A008-994D-CF87-26E58F6BCC27}"/>
              </a:ext>
            </a:extLst>
          </p:cNvPr>
          <p:cNvSpPr/>
          <p:nvPr/>
        </p:nvSpPr>
        <p:spPr>
          <a:xfrm>
            <a:off x="9296400" y="2324100"/>
            <a:ext cx="7254652" cy="6415994"/>
          </a:xfrm>
          <a:prstGeom prst="rect">
            <a:avLst/>
          </a:prstGeom>
          <a:solidFill>
            <a:srgbClr val="12295A"/>
          </a:solidFill>
          <a:ln w="28575" cap="sq">
            <a:solidFill>
              <a:srgbClr val="000000"/>
            </a:solidFill>
            <a:prstDash val="solid"/>
            <a:miter/>
          </a:ln>
        </p:spPr>
        <p:txBody>
          <a:bodyPr/>
          <a:lstStyle/>
          <a:p>
            <a:pPr marL="441960" indent="-171450" algn="just">
              <a:lnSpc>
                <a:spcPct val="110000"/>
              </a:lnSpc>
              <a:spcBef>
                <a:spcPts val="600"/>
              </a:spcBef>
              <a:buFont typeface="Arial" panose="020B0604020202020204" pitchFamily="34" charset="0"/>
              <a:buChar char="•"/>
            </a:pPr>
            <a:r>
              <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rPr>
              <a:t>It should give you comfort to know that </a:t>
            </a:r>
            <a:r>
              <a:rPr lang="en-ZA" sz="2000" dirty="0" err="1">
                <a:solidFill>
                  <a:schemeClr val="bg1"/>
                </a:solidFill>
                <a:latin typeface="Arial" panose="020B0604020202020204" pitchFamily="34" charset="0"/>
                <a:ea typeface="MS PGothic" panose="020B0600070205080204" pitchFamily="34" charset="-128"/>
                <a:cs typeface="Arial" panose="020B0604020202020204" pitchFamily="34" charset="0"/>
              </a:rPr>
              <a:t>Azuresky</a:t>
            </a:r>
            <a:r>
              <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rPr>
              <a:t> (Pty) Ltd satisfies ISO/IEC 17025:2017 clause 7.7.2 and SANAS R80-06 clause 4.2 (iii) requirements. (See attached PT report to enable the assessment thereof)</a:t>
            </a:r>
          </a:p>
          <a:p>
            <a:pPr marL="441960" indent="-171450" algn="just">
              <a:lnSpc>
                <a:spcPct val="110000"/>
              </a:lnSpc>
              <a:spcBef>
                <a:spcPts val="600"/>
              </a:spcBef>
              <a:buFont typeface="Arial" panose="020B0604020202020204" pitchFamily="34" charset="0"/>
              <a:buChar char="•"/>
            </a:pPr>
            <a:endPar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endParaRPr>
          </a:p>
          <a:p>
            <a:pPr marL="441960" indent="-171450" algn="just">
              <a:lnSpc>
                <a:spcPct val="110000"/>
              </a:lnSpc>
              <a:spcBef>
                <a:spcPts val="600"/>
              </a:spcBef>
              <a:buFont typeface="Arial" panose="020B0604020202020204" pitchFamily="34" charset="0"/>
              <a:buChar char="•"/>
            </a:pPr>
            <a:r>
              <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rPr>
              <a:t>It should give you comfort to know that participation in </a:t>
            </a:r>
            <a:r>
              <a:rPr lang="en-ZA" sz="2000" dirty="0" err="1">
                <a:solidFill>
                  <a:schemeClr val="bg1"/>
                </a:solidFill>
                <a:latin typeface="Arial" panose="020B0604020202020204" pitchFamily="34" charset="0"/>
                <a:ea typeface="MS PGothic" panose="020B0600070205080204" pitchFamily="34" charset="-128"/>
                <a:cs typeface="Arial" panose="020B0604020202020204" pitchFamily="34" charset="0"/>
              </a:rPr>
              <a:t>Azuresky</a:t>
            </a:r>
            <a:r>
              <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rPr>
              <a:t> PT scheme provides the participant with external /independent evaluation of their testing/calibration capabilities. </a:t>
            </a:r>
          </a:p>
          <a:p>
            <a:pPr marL="441960" indent="-171450" algn="just">
              <a:lnSpc>
                <a:spcPct val="110000"/>
              </a:lnSpc>
              <a:spcBef>
                <a:spcPts val="600"/>
              </a:spcBef>
              <a:buFont typeface="Arial" panose="020B0604020202020204" pitchFamily="34" charset="0"/>
              <a:buChar char="•"/>
            </a:pPr>
            <a:endPar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endParaRPr>
          </a:p>
          <a:p>
            <a:pPr marL="270510" algn="just">
              <a:lnSpc>
                <a:spcPct val="110000"/>
              </a:lnSpc>
              <a:spcBef>
                <a:spcPts val="600"/>
              </a:spcBef>
            </a:pPr>
            <a:endParaRPr lang="en-ZA" dirty="0">
              <a:solidFill>
                <a:schemeClr val="bg1"/>
              </a:solidFill>
              <a:latin typeface="Arial" panose="020B0604020202020204" pitchFamily="34" charset="0"/>
              <a:ea typeface="MS PGothic" panose="020B0600070205080204" pitchFamily="34" charset="-128"/>
              <a:cs typeface="Arial" panose="020B0604020202020204" pitchFamily="34" charset="0"/>
            </a:endParaRPr>
          </a:p>
        </p:txBody>
      </p:sp>
      <p:sp>
        <p:nvSpPr>
          <p:cNvPr id="5" name="Freeform 5">
            <a:extLst>
              <a:ext uri="{FF2B5EF4-FFF2-40B4-BE49-F238E27FC236}">
                <a16:creationId xmlns:a16="http://schemas.microsoft.com/office/drawing/2014/main" id="{C36A6399-8745-9DFD-8151-ABBFC3BB8588}"/>
              </a:ext>
            </a:extLst>
          </p:cNvPr>
          <p:cNvSpPr/>
          <p:nvPr/>
        </p:nvSpPr>
        <p:spPr>
          <a:xfrm>
            <a:off x="-24265" y="4930720"/>
            <a:ext cx="1616648" cy="1616648"/>
          </a:xfrm>
          <a:custGeom>
            <a:avLst/>
            <a:gdLst/>
            <a:ahLst/>
            <a:cxnLst/>
            <a:rect l="l" t="t" r="r" b="b"/>
            <a:pathLst>
              <a:path w="1616648" h="1616648">
                <a:moveTo>
                  <a:pt x="0" y="0"/>
                </a:moveTo>
                <a:lnTo>
                  <a:pt x="1616648" y="0"/>
                </a:lnTo>
                <a:lnTo>
                  <a:pt x="1616648" y="1616648"/>
                </a:lnTo>
                <a:lnTo>
                  <a:pt x="0" y="1616648"/>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ZA"/>
          </a:p>
        </p:txBody>
      </p:sp>
      <p:sp>
        <p:nvSpPr>
          <p:cNvPr id="6" name="Freeform 6">
            <a:extLst>
              <a:ext uri="{FF2B5EF4-FFF2-40B4-BE49-F238E27FC236}">
                <a16:creationId xmlns:a16="http://schemas.microsoft.com/office/drawing/2014/main" id="{02372340-B535-116E-813C-EACF42E5E6CA}"/>
              </a:ext>
            </a:extLst>
          </p:cNvPr>
          <p:cNvSpPr/>
          <p:nvPr/>
        </p:nvSpPr>
        <p:spPr>
          <a:xfrm>
            <a:off x="0" y="0"/>
            <a:ext cx="1717522" cy="1717522"/>
          </a:xfrm>
          <a:custGeom>
            <a:avLst/>
            <a:gdLst/>
            <a:ahLst/>
            <a:cxnLst/>
            <a:rect l="l" t="t" r="r" b="b"/>
            <a:pathLst>
              <a:path w="1717522" h="1717522">
                <a:moveTo>
                  <a:pt x="0" y="0"/>
                </a:moveTo>
                <a:lnTo>
                  <a:pt x="1717522" y="0"/>
                </a:lnTo>
                <a:lnTo>
                  <a:pt x="1717522" y="1717522"/>
                </a:lnTo>
                <a:lnTo>
                  <a:pt x="0" y="1717522"/>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ZA"/>
          </a:p>
        </p:txBody>
      </p:sp>
      <p:sp>
        <p:nvSpPr>
          <p:cNvPr id="7" name="Freeform 7">
            <a:extLst>
              <a:ext uri="{FF2B5EF4-FFF2-40B4-BE49-F238E27FC236}">
                <a16:creationId xmlns:a16="http://schemas.microsoft.com/office/drawing/2014/main" id="{222207FC-0C61-8140-34C7-0D95ADB570E6}"/>
              </a:ext>
            </a:extLst>
          </p:cNvPr>
          <p:cNvSpPr/>
          <p:nvPr/>
        </p:nvSpPr>
        <p:spPr>
          <a:xfrm>
            <a:off x="16603995" y="0"/>
            <a:ext cx="1684005" cy="1684005"/>
          </a:xfrm>
          <a:custGeom>
            <a:avLst/>
            <a:gdLst/>
            <a:ahLst/>
            <a:cxnLst/>
            <a:rect l="l" t="t" r="r" b="b"/>
            <a:pathLst>
              <a:path w="1684005" h="1684005">
                <a:moveTo>
                  <a:pt x="0" y="0"/>
                </a:moveTo>
                <a:lnTo>
                  <a:pt x="1684005" y="0"/>
                </a:lnTo>
                <a:lnTo>
                  <a:pt x="1684005" y="1684005"/>
                </a:lnTo>
                <a:lnTo>
                  <a:pt x="0" y="1684005"/>
                </a:lnTo>
                <a:lnTo>
                  <a:pt x="0" y="0"/>
                </a:lnTo>
                <a:close/>
              </a:path>
            </a:pathLst>
          </a:custGeom>
          <a:blipFill>
            <a:blip r:embed="rId8"/>
            <a:stretch>
              <a:fillRect/>
            </a:stretch>
          </a:blipFill>
        </p:spPr>
        <p:txBody>
          <a:bodyPr/>
          <a:lstStyle/>
          <a:p>
            <a:endParaRPr lang="en-ZA"/>
          </a:p>
        </p:txBody>
      </p:sp>
      <p:sp>
        <p:nvSpPr>
          <p:cNvPr id="8" name="TextBox 8">
            <a:extLst>
              <a:ext uri="{FF2B5EF4-FFF2-40B4-BE49-F238E27FC236}">
                <a16:creationId xmlns:a16="http://schemas.microsoft.com/office/drawing/2014/main" id="{FD1074DC-4F46-0D3D-382D-F11E03CC497C}"/>
              </a:ext>
            </a:extLst>
          </p:cNvPr>
          <p:cNvSpPr txBox="1"/>
          <p:nvPr/>
        </p:nvSpPr>
        <p:spPr>
          <a:xfrm>
            <a:off x="2743200" y="419100"/>
            <a:ext cx="12503421" cy="1235210"/>
          </a:xfrm>
          <a:prstGeom prst="rect">
            <a:avLst/>
          </a:prstGeom>
        </p:spPr>
        <p:txBody>
          <a:bodyPr wrap="square" lIns="0" tIns="0" rIns="0" bIns="0" rtlCol="0" anchor="t">
            <a:spAutoFit/>
          </a:bodyPr>
          <a:lstStyle/>
          <a:p>
            <a:pPr marL="0" lvl="0" indent="0" algn="ctr">
              <a:lnSpc>
                <a:spcPts val="10080"/>
              </a:lnSpc>
              <a:spcBef>
                <a:spcPct val="0"/>
              </a:spcBef>
            </a:pPr>
            <a:r>
              <a:rPr lang="en-US" sz="7200" dirty="0">
                <a:solidFill>
                  <a:srgbClr val="EEF3FE"/>
                </a:solidFill>
                <a:latin typeface="DM Sans"/>
                <a:ea typeface="DM Sans"/>
                <a:cs typeface="DM Sans"/>
                <a:sym typeface="DM Sans"/>
              </a:rPr>
              <a:t>Value proposition</a:t>
            </a:r>
          </a:p>
        </p:txBody>
      </p:sp>
      <p:grpSp>
        <p:nvGrpSpPr>
          <p:cNvPr id="9" name="Group 9">
            <a:extLst>
              <a:ext uri="{FF2B5EF4-FFF2-40B4-BE49-F238E27FC236}">
                <a16:creationId xmlns:a16="http://schemas.microsoft.com/office/drawing/2014/main" id="{39F47992-34FA-AC95-5EB4-8ECF63771139}"/>
              </a:ext>
            </a:extLst>
          </p:cNvPr>
          <p:cNvGrpSpPr/>
          <p:nvPr/>
        </p:nvGrpSpPr>
        <p:grpSpPr>
          <a:xfrm>
            <a:off x="1219200" y="1654310"/>
            <a:ext cx="14325599" cy="6951707"/>
            <a:chOff x="-667353" y="-5498560"/>
            <a:chExt cx="18691029" cy="9529083"/>
          </a:xfrm>
        </p:grpSpPr>
        <p:sp>
          <p:nvSpPr>
            <p:cNvPr id="10" name="TextBox 10">
              <a:extLst>
                <a:ext uri="{FF2B5EF4-FFF2-40B4-BE49-F238E27FC236}">
                  <a16:creationId xmlns:a16="http://schemas.microsoft.com/office/drawing/2014/main" id="{A346EBB3-4E68-974A-FB8E-B8BC199FE3BD}"/>
                </a:ext>
              </a:extLst>
            </p:cNvPr>
            <p:cNvSpPr txBox="1"/>
            <p:nvPr/>
          </p:nvSpPr>
          <p:spPr>
            <a:xfrm>
              <a:off x="-667353" y="-3460635"/>
              <a:ext cx="9268695" cy="7491158"/>
            </a:xfrm>
            <a:prstGeom prst="rect">
              <a:avLst/>
            </a:prstGeom>
          </p:spPr>
          <p:txBody>
            <a:bodyPr wrap="square" lIns="0" tIns="0" rIns="0" bIns="0" rtlCol="0" anchor="t">
              <a:spAutoFit/>
            </a:bodyPr>
            <a:lstStyle/>
            <a:p>
              <a:pPr marL="0" lvl="0" indent="0" algn="ctr">
                <a:lnSpc>
                  <a:spcPts val="2940"/>
                </a:lnSpc>
                <a:spcBef>
                  <a:spcPct val="0"/>
                </a:spcBef>
              </a:pPr>
              <a:endParaRPr lang="en-US" sz="2100" dirty="0">
                <a:solidFill>
                  <a:srgbClr val="EEF3FE"/>
                </a:solidFill>
                <a:latin typeface="DM Sans"/>
                <a:ea typeface="DM Sans"/>
                <a:cs typeface="DM Sans"/>
                <a:sym typeface="DM Sans"/>
              </a:endParaRPr>
            </a:p>
          </p:txBody>
        </p:sp>
        <p:sp>
          <p:nvSpPr>
            <p:cNvPr id="11" name="TextBox 11">
              <a:extLst>
                <a:ext uri="{FF2B5EF4-FFF2-40B4-BE49-F238E27FC236}">
                  <a16:creationId xmlns:a16="http://schemas.microsoft.com/office/drawing/2014/main" id="{2C5F36EC-9A25-49B5-C343-F5E143F0DD26}"/>
                </a:ext>
              </a:extLst>
            </p:cNvPr>
            <p:cNvSpPr txBox="1"/>
            <p:nvPr/>
          </p:nvSpPr>
          <p:spPr>
            <a:xfrm>
              <a:off x="-372977" y="-5498560"/>
              <a:ext cx="18396653" cy="660723"/>
            </a:xfrm>
            <a:prstGeom prst="rect">
              <a:avLst/>
            </a:prstGeom>
          </p:spPr>
          <p:txBody>
            <a:bodyPr wrap="square" lIns="0" tIns="0" rIns="0" bIns="0" rtlCol="0" anchor="t">
              <a:spAutoFit/>
            </a:bodyPr>
            <a:lstStyle/>
            <a:p>
              <a:pPr algn="ctr">
                <a:lnSpc>
                  <a:spcPts val="3919"/>
                </a:lnSpc>
                <a:spcBef>
                  <a:spcPct val="0"/>
                </a:spcBef>
              </a:pPr>
              <a:r>
                <a:rPr lang="en-US" sz="2799" b="1" dirty="0">
                  <a:solidFill>
                    <a:srgbClr val="EEF3FE"/>
                  </a:solidFill>
                  <a:latin typeface="DM Sans Bold"/>
                  <a:sym typeface="DM Sans Bold"/>
                </a:rPr>
                <a:t>Proficiency Testing scheme</a:t>
              </a:r>
            </a:p>
          </p:txBody>
        </p:sp>
      </p:grpSp>
    </p:spTree>
    <p:extLst>
      <p:ext uri="{BB962C8B-B14F-4D97-AF65-F5344CB8AC3E}">
        <p14:creationId xmlns:p14="http://schemas.microsoft.com/office/powerpoint/2010/main" val="40660525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2295A"/>
        </a:solidFill>
        <a:effectLst/>
      </p:bgPr>
    </p:bg>
    <p:spTree>
      <p:nvGrpSpPr>
        <p:cNvPr id="1" name="">
          <a:extLst>
            <a:ext uri="{FF2B5EF4-FFF2-40B4-BE49-F238E27FC236}">
              <a16:creationId xmlns:a16="http://schemas.microsoft.com/office/drawing/2014/main" id="{22D37F94-E3EE-9A6A-EDCA-02395C91D43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7F59208-50AD-1188-7853-17456E5735D8}"/>
              </a:ext>
            </a:extLst>
          </p:cNvPr>
          <p:cNvSpPr/>
          <p:nvPr/>
        </p:nvSpPr>
        <p:spPr>
          <a:xfrm>
            <a:off x="1592383" y="2324100"/>
            <a:ext cx="6951522" cy="7086600"/>
          </a:xfrm>
          <a:prstGeom prst="rect">
            <a:avLst/>
          </a:prstGeom>
          <a:solidFill>
            <a:srgbClr val="12295A"/>
          </a:solidFill>
          <a:ln w="28575" cap="sq">
            <a:solidFill>
              <a:srgbClr val="000000"/>
            </a:solidFill>
            <a:prstDash val="solid"/>
            <a:miter/>
          </a:ln>
        </p:spPr>
        <p:txBody>
          <a:bodyPr/>
          <a:lstStyle/>
          <a:p>
            <a:pPr marL="441960" indent="-171450" algn="just">
              <a:lnSpc>
                <a:spcPct val="110000"/>
              </a:lnSpc>
              <a:spcBef>
                <a:spcPts val="600"/>
              </a:spcBef>
              <a:buFont typeface="Arial" panose="020B0604020202020204" pitchFamily="34" charset="0"/>
              <a:buChar char="•"/>
            </a:pPr>
            <a:r>
              <a:rPr lang="en-GB" sz="2000" dirty="0">
                <a:solidFill>
                  <a:schemeClr val="bg1"/>
                </a:solidFill>
                <a:latin typeface="Arial" panose="020B0604020202020204" pitchFamily="34" charset="0"/>
                <a:ea typeface="MS PGothic" panose="020B0600070205080204" pitchFamily="34" charset="-128"/>
                <a:cs typeface="Arial" panose="020B0604020202020204" pitchFamily="34" charset="0"/>
              </a:rPr>
              <a:t>ISO/IEC 17034:2017 states the general requirements of reference material production. These are used in the daily quality control measurement during the testing of coal, method validation, training of personnel, etc</a:t>
            </a:r>
          </a:p>
          <a:p>
            <a:pPr marL="441960" indent="-171450" algn="just">
              <a:lnSpc>
                <a:spcPct val="110000"/>
              </a:lnSpc>
              <a:spcBef>
                <a:spcPts val="600"/>
              </a:spcBef>
              <a:buFont typeface="Arial" panose="020B0604020202020204" pitchFamily="34" charset="0"/>
              <a:buChar char="•"/>
            </a:pPr>
            <a:r>
              <a:rPr lang="en-GB" sz="2000" dirty="0">
                <a:solidFill>
                  <a:schemeClr val="bg1"/>
                </a:solidFill>
                <a:latin typeface="Arial" panose="020B0604020202020204" pitchFamily="34" charset="0"/>
                <a:ea typeface="MS PGothic" panose="020B0600070205080204" pitchFamily="34" charset="-128"/>
                <a:cs typeface="Arial" panose="020B0604020202020204" pitchFamily="34" charset="0"/>
              </a:rPr>
              <a:t>The key aspects to satisfy:</a:t>
            </a:r>
          </a:p>
          <a:p>
            <a:r>
              <a:rPr lang="en-GB" sz="2000" dirty="0">
                <a:solidFill>
                  <a:schemeClr val="bg1"/>
                </a:solidFill>
                <a:latin typeface="Arial" panose="020B0604020202020204" pitchFamily="34" charset="0"/>
                <a:ea typeface="MS PGothic" panose="020B0600070205080204" pitchFamily="34" charset="-128"/>
                <a:cs typeface="Arial" panose="020B0604020202020204" pitchFamily="34" charset="0"/>
              </a:rPr>
              <a:t>	- Metrological traceability, reference material 	producer (RMP) shall be traceable which enhances 	credibility and trustworthiness.</a:t>
            </a:r>
          </a:p>
          <a:p>
            <a:r>
              <a:rPr lang="en-GB" sz="2000" dirty="0">
                <a:solidFill>
                  <a:schemeClr val="bg1"/>
                </a:solidFill>
                <a:latin typeface="Arial" panose="020B0604020202020204" pitchFamily="34" charset="0"/>
                <a:ea typeface="MS PGothic" panose="020B0600070205080204" pitchFamily="34" charset="-128"/>
                <a:cs typeface="Arial" panose="020B0604020202020204" pitchFamily="34" charset="0"/>
              </a:rPr>
              <a:t>	</a:t>
            </a:r>
          </a:p>
          <a:p>
            <a:r>
              <a:rPr lang="en-GB" sz="2000" dirty="0">
                <a:solidFill>
                  <a:schemeClr val="bg1"/>
                </a:solidFill>
                <a:latin typeface="Arial" panose="020B0604020202020204" pitchFamily="34" charset="0"/>
                <a:ea typeface="MS PGothic" panose="020B0600070205080204" pitchFamily="34" charset="-128"/>
                <a:cs typeface="Arial" panose="020B0604020202020204" pitchFamily="34" charset="0"/>
              </a:rPr>
              <a:t>	- Value assignment, RMP shall assess the value of 	their products and application which is crucial for 	effective communication with coal laboratories. </a:t>
            </a:r>
          </a:p>
          <a:p>
            <a:r>
              <a:rPr lang="en-GB" sz="2000" dirty="0">
                <a:solidFill>
                  <a:schemeClr val="bg1"/>
                </a:solidFill>
                <a:latin typeface="Arial" panose="020B0604020202020204" pitchFamily="34" charset="0"/>
                <a:ea typeface="MS PGothic" panose="020B0600070205080204" pitchFamily="34" charset="-128"/>
                <a:cs typeface="Arial" panose="020B0604020202020204" pitchFamily="34" charset="0"/>
              </a:rPr>
              <a:t>	</a:t>
            </a:r>
            <a:br>
              <a:rPr lang="en-US" sz="2000" dirty="0">
                <a:solidFill>
                  <a:schemeClr val="bg1"/>
                </a:solidFill>
                <a:latin typeface="Arial" panose="020B0604020202020204" pitchFamily="34" charset="0"/>
                <a:cs typeface="Arial" panose="020B0604020202020204" pitchFamily="34" charset="0"/>
              </a:rPr>
            </a:br>
            <a:r>
              <a:rPr lang="en-GB" sz="2000" dirty="0">
                <a:solidFill>
                  <a:schemeClr val="bg1"/>
                </a:solidFill>
                <a:latin typeface="Arial" panose="020B0604020202020204" pitchFamily="34" charset="0"/>
                <a:ea typeface="MS PGothic" panose="020B0600070205080204" pitchFamily="34" charset="-128"/>
                <a:cs typeface="Arial" panose="020B0604020202020204" pitchFamily="34" charset="0"/>
              </a:rPr>
              <a:t>	</a:t>
            </a:r>
            <a:endParaRPr lang="en-ZA" sz="2000" dirty="0">
              <a:solidFill>
                <a:schemeClr val="bg1"/>
              </a:solidFill>
              <a:latin typeface="Arial" panose="020B0604020202020204" pitchFamily="34" charset="0"/>
              <a:ea typeface="Calibri" panose="020F0502020204030204" pitchFamily="34" charset="0"/>
              <a:cs typeface="Arial" panose="020B0604020202020204" pitchFamily="34" charset="0"/>
            </a:endParaRPr>
          </a:p>
        </p:txBody>
      </p:sp>
      <p:sp>
        <p:nvSpPr>
          <p:cNvPr id="3" name="Freeform 3">
            <a:extLst>
              <a:ext uri="{FF2B5EF4-FFF2-40B4-BE49-F238E27FC236}">
                <a16:creationId xmlns:a16="http://schemas.microsoft.com/office/drawing/2014/main" id="{E42DC3CD-0F57-6241-ACC9-09888956A850}"/>
              </a:ext>
            </a:extLst>
          </p:cNvPr>
          <p:cNvSpPr/>
          <p:nvPr/>
        </p:nvSpPr>
        <p:spPr>
          <a:xfrm>
            <a:off x="16526788" y="4930720"/>
            <a:ext cx="1761212" cy="1761212"/>
          </a:xfrm>
          <a:custGeom>
            <a:avLst/>
            <a:gdLst/>
            <a:ahLst/>
            <a:cxnLst/>
            <a:rect l="l" t="t" r="r" b="b"/>
            <a:pathLst>
              <a:path w="1761212" h="1761212">
                <a:moveTo>
                  <a:pt x="0" y="0"/>
                </a:moveTo>
                <a:lnTo>
                  <a:pt x="1761212" y="0"/>
                </a:lnTo>
                <a:lnTo>
                  <a:pt x="1761212" y="1761212"/>
                </a:lnTo>
                <a:lnTo>
                  <a:pt x="0" y="1761212"/>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ZA"/>
          </a:p>
        </p:txBody>
      </p:sp>
      <p:sp>
        <p:nvSpPr>
          <p:cNvPr id="4" name="AutoShape 4">
            <a:extLst>
              <a:ext uri="{FF2B5EF4-FFF2-40B4-BE49-F238E27FC236}">
                <a16:creationId xmlns:a16="http://schemas.microsoft.com/office/drawing/2014/main" id="{C7460F3C-73FD-7DB9-C418-94A5E1FDAA65}"/>
              </a:ext>
            </a:extLst>
          </p:cNvPr>
          <p:cNvSpPr/>
          <p:nvPr/>
        </p:nvSpPr>
        <p:spPr>
          <a:xfrm>
            <a:off x="9296400" y="2324100"/>
            <a:ext cx="7254652" cy="7086600"/>
          </a:xfrm>
          <a:prstGeom prst="rect">
            <a:avLst/>
          </a:prstGeom>
          <a:solidFill>
            <a:srgbClr val="12295A"/>
          </a:solidFill>
          <a:ln w="28575" cap="sq">
            <a:solidFill>
              <a:srgbClr val="000000"/>
            </a:solidFill>
            <a:prstDash val="solid"/>
            <a:miter/>
          </a:ln>
        </p:spPr>
        <p:txBody>
          <a:bodyPr/>
          <a:lstStyle/>
          <a:p>
            <a:pPr marL="441960" indent="-171450" algn="just">
              <a:lnSpc>
                <a:spcPct val="110000"/>
              </a:lnSpc>
              <a:spcBef>
                <a:spcPts val="600"/>
              </a:spcBef>
              <a:buFont typeface="Arial" panose="020B0604020202020204" pitchFamily="34" charset="0"/>
              <a:buChar char="•"/>
            </a:pPr>
            <a:r>
              <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rPr>
              <a:t>It should give you comfort to know that </a:t>
            </a:r>
            <a:r>
              <a:rPr lang="en-ZA" sz="2000" dirty="0" err="1">
                <a:solidFill>
                  <a:schemeClr val="bg1"/>
                </a:solidFill>
                <a:latin typeface="Arial" panose="020B0604020202020204" pitchFamily="34" charset="0"/>
                <a:ea typeface="MS PGothic" panose="020B0600070205080204" pitchFamily="34" charset="-128"/>
                <a:cs typeface="Arial" panose="020B0604020202020204" pitchFamily="34" charset="0"/>
              </a:rPr>
              <a:t>Azuresky</a:t>
            </a:r>
            <a:r>
              <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rPr>
              <a:t> (Pty) Ltd satisfies ISO/IEC 17034:2017 requirements </a:t>
            </a:r>
          </a:p>
          <a:p>
            <a:pPr marL="613410" indent="-342900" algn="just">
              <a:lnSpc>
                <a:spcPct val="110000"/>
              </a:lnSpc>
              <a:spcBef>
                <a:spcPts val="600"/>
              </a:spcBef>
              <a:buFontTx/>
              <a:buChar char="-"/>
            </a:pPr>
            <a:r>
              <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rPr>
              <a:t>Characterization of the material is based on documented information to confirm the origin of material and supported by evidence to identify the material. These include e.g. </a:t>
            </a:r>
          </a:p>
          <a:p>
            <a:pPr marL="613410" indent="-342900" algn="just">
              <a:lnSpc>
                <a:spcPct val="110000"/>
              </a:lnSpc>
              <a:spcBef>
                <a:spcPts val="600"/>
              </a:spcBef>
              <a:buFontTx/>
              <a:buChar char="-"/>
            </a:pPr>
            <a:r>
              <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rPr>
              <a:t>Homogeneity checks (presented on certificate)</a:t>
            </a:r>
          </a:p>
          <a:p>
            <a:pPr marL="613410" indent="-342900" algn="just">
              <a:lnSpc>
                <a:spcPct val="110000"/>
              </a:lnSpc>
              <a:spcBef>
                <a:spcPts val="600"/>
              </a:spcBef>
              <a:buFontTx/>
              <a:buChar char="-"/>
            </a:pPr>
            <a:r>
              <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rPr>
              <a:t>Stability checks (presented on certificate)</a:t>
            </a:r>
          </a:p>
          <a:p>
            <a:pPr marL="613410" indent="-342900" algn="just">
              <a:lnSpc>
                <a:spcPct val="110000"/>
              </a:lnSpc>
              <a:spcBef>
                <a:spcPts val="600"/>
              </a:spcBef>
              <a:buFontTx/>
              <a:buChar char="-"/>
            </a:pPr>
            <a:r>
              <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rPr>
              <a:t>Uncertainty of measurement results( presented on certificate)</a:t>
            </a:r>
          </a:p>
          <a:p>
            <a:pPr marL="613410" indent="-342900" algn="just">
              <a:lnSpc>
                <a:spcPct val="110000"/>
              </a:lnSpc>
              <a:spcBef>
                <a:spcPts val="600"/>
              </a:spcBef>
              <a:buFontTx/>
              <a:buChar char="-"/>
            </a:pPr>
            <a:r>
              <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rPr>
              <a:t>The source of material as well as the storage requirements (presented on the certificate)</a:t>
            </a:r>
          </a:p>
          <a:p>
            <a:pPr marL="613410" indent="-342900" algn="just">
              <a:lnSpc>
                <a:spcPct val="110000"/>
              </a:lnSpc>
              <a:spcBef>
                <a:spcPts val="600"/>
              </a:spcBef>
              <a:buFontTx/>
              <a:buChar char="-"/>
            </a:pPr>
            <a:endPar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endParaRPr>
          </a:p>
          <a:p>
            <a:pPr marL="613410" indent="-342900" algn="just">
              <a:lnSpc>
                <a:spcPct val="110000"/>
              </a:lnSpc>
              <a:spcBef>
                <a:spcPts val="600"/>
              </a:spcBef>
              <a:buFontTx/>
              <a:buChar char="-"/>
            </a:pPr>
            <a:r>
              <a:rPr lang="en-ZA" sz="2000" dirty="0">
                <a:solidFill>
                  <a:schemeClr val="bg1"/>
                </a:solidFill>
                <a:latin typeface="Arial" panose="020B0604020202020204" pitchFamily="34" charset="0"/>
                <a:ea typeface="MS PGothic" panose="020B0600070205080204" pitchFamily="34" charset="-128"/>
                <a:cs typeface="Arial" panose="020B0604020202020204" pitchFamily="34" charset="0"/>
              </a:rPr>
              <a:t>NB: The certified reference material catalogue is attached along with this presentation. CRM is available for purchase at a price of R382 excluding VAT (VAT is not charged as the company is not registered). </a:t>
            </a:r>
          </a:p>
        </p:txBody>
      </p:sp>
      <p:sp>
        <p:nvSpPr>
          <p:cNvPr id="5" name="Freeform 5">
            <a:extLst>
              <a:ext uri="{FF2B5EF4-FFF2-40B4-BE49-F238E27FC236}">
                <a16:creationId xmlns:a16="http://schemas.microsoft.com/office/drawing/2014/main" id="{A733AE4B-5880-16F3-9D1E-40FB114B7381}"/>
              </a:ext>
            </a:extLst>
          </p:cNvPr>
          <p:cNvSpPr/>
          <p:nvPr/>
        </p:nvSpPr>
        <p:spPr>
          <a:xfrm>
            <a:off x="-24265" y="4930720"/>
            <a:ext cx="1616648" cy="1616648"/>
          </a:xfrm>
          <a:custGeom>
            <a:avLst/>
            <a:gdLst/>
            <a:ahLst/>
            <a:cxnLst/>
            <a:rect l="l" t="t" r="r" b="b"/>
            <a:pathLst>
              <a:path w="1616648" h="1616648">
                <a:moveTo>
                  <a:pt x="0" y="0"/>
                </a:moveTo>
                <a:lnTo>
                  <a:pt x="1616648" y="0"/>
                </a:lnTo>
                <a:lnTo>
                  <a:pt x="1616648" y="1616648"/>
                </a:lnTo>
                <a:lnTo>
                  <a:pt x="0" y="1616648"/>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ZA"/>
          </a:p>
        </p:txBody>
      </p:sp>
      <p:sp>
        <p:nvSpPr>
          <p:cNvPr id="6" name="Freeform 6">
            <a:extLst>
              <a:ext uri="{FF2B5EF4-FFF2-40B4-BE49-F238E27FC236}">
                <a16:creationId xmlns:a16="http://schemas.microsoft.com/office/drawing/2014/main" id="{E0423D8F-9037-EABE-1C5A-D89B25913E05}"/>
              </a:ext>
            </a:extLst>
          </p:cNvPr>
          <p:cNvSpPr/>
          <p:nvPr/>
        </p:nvSpPr>
        <p:spPr>
          <a:xfrm>
            <a:off x="0" y="0"/>
            <a:ext cx="1717522" cy="1717522"/>
          </a:xfrm>
          <a:custGeom>
            <a:avLst/>
            <a:gdLst/>
            <a:ahLst/>
            <a:cxnLst/>
            <a:rect l="l" t="t" r="r" b="b"/>
            <a:pathLst>
              <a:path w="1717522" h="1717522">
                <a:moveTo>
                  <a:pt x="0" y="0"/>
                </a:moveTo>
                <a:lnTo>
                  <a:pt x="1717522" y="0"/>
                </a:lnTo>
                <a:lnTo>
                  <a:pt x="1717522" y="1717522"/>
                </a:lnTo>
                <a:lnTo>
                  <a:pt x="0" y="1717522"/>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ZA"/>
          </a:p>
        </p:txBody>
      </p:sp>
      <p:sp>
        <p:nvSpPr>
          <p:cNvPr id="7" name="Freeform 7">
            <a:extLst>
              <a:ext uri="{FF2B5EF4-FFF2-40B4-BE49-F238E27FC236}">
                <a16:creationId xmlns:a16="http://schemas.microsoft.com/office/drawing/2014/main" id="{F1F34C66-F6E8-403F-8823-2CA249F376FA}"/>
              </a:ext>
            </a:extLst>
          </p:cNvPr>
          <p:cNvSpPr/>
          <p:nvPr/>
        </p:nvSpPr>
        <p:spPr>
          <a:xfrm>
            <a:off x="16603995" y="0"/>
            <a:ext cx="1684005" cy="1684005"/>
          </a:xfrm>
          <a:custGeom>
            <a:avLst/>
            <a:gdLst/>
            <a:ahLst/>
            <a:cxnLst/>
            <a:rect l="l" t="t" r="r" b="b"/>
            <a:pathLst>
              <a:path w="1684005" h="1684005">
                <a:moveTo>
                  <a:pt x="0" y="0"/>
                </a:moveTo>
                <a:lnTo>
                  <a:pt x="1684005" y="0"/>
                </a:lnTo>
                <a:lnTo>
                  <a:pt x="1684005" y="1684005"/>
                </a:lnTo>
                <a:lnTo>
                  <a:pt x="0" y="1684005"/>
                </a:lnTo>
                <a:lnTo>
                  <a:pt x="0" y="0"/>
                </a:lnTo>
                <a:close/>
              </a:path>
            </a:pathLst>
          </a:custGeom>
          <a:blipFill>
            <a:blip r:embed="rId8"/>
            <a:stretch>
              <a:fillRect/>
            </a:stretch>
          </a:blipFill>
        </p:spPr>
        <p:txBody>
          <a:bodyPr/>
          <a:lstStyle/>
          <a:p>
            <a:endParaRPr lang="en-ZA"/>
          </a:p>
        </p:txBody>
      </p:sp>
      <p:sp>
        <p:nvSpPr>
          <p:cNvPr id="8" name="TextBox 8">
            <a:extLst>
              <a:ext uri="{FF2B5EF4-FFF2-40B4-BE49-F238E27FC236}">
                <a16:creationId xmlns:a16="http://schemas.microsoft.com/office/drawing/2014/main" id="{378767AA-C007-5A58-B331-C98E7F0A11FC}"/>
              </a:ext>
            </a:extLst>
          </p:cNvPr>
          <p:cNvSpPr txBox="1"/>
          <p:nvPr/>
        </p:nvSpPr>
        <p:spPr>
          <a:xfrm>
            <a:off x="2743200" y="419100"/>
            <a:ext cx="12503421" cy="1235210"/>
          </a:xfrm>
          <a:prstGeom prst="rect">
            <a:avLst/>
          </a:prstGeom>
        </p:spPr>
        <p:txBody>
          <a:bodyPr wrap="square" lIns="0" tIns="0" rIns="0" bIns="0" rtlCol="0" anchor="t">
            <a:spAutoFit/>
          </a:bodyPr>
          <a:lstStyle/>
          <a:p>
            <a:pPr marL="0" lvl="0" indent="0" algn="ctr">
              <a:lnSpc>
                <a:spcPts val="10080"/>
              </a:lnSpc>
              <a:spcBef>
                <a:spcPct val="0"/>
              </a:spcBef>
            </a:pPr>
            <a:r>
              <a:rPr lang="en-US" sz="7200" dirty="0">
                <a:solidFill>
                  <a:srgbClr val="EEF3FE"/>
                </a:solidFill>
                <a:latin typeface="DM Sans"/>
                <a:ea typeface="DM Sans"/>
                <a:cs typeface="DM Sans"/>
                <a:sym typeface="DM Sans"/>
              </a:rPr>
              <a:t>Value proposition</a:t>
            </a:r>
          </a:p>
        </p:txBody>
      </p:sp>
      <p:grpSp>
        <p:nvGrpSpPr>
          <p:cNvPr id="9" name="Group 9">
            <a:extLst>
              <a:ext uri="{FF2B5EF4-FFF2-40B4-BE49-F238E27FC236}">
                <a16:creationId xmlns:a16="http://schemas.microsoft.com/office/drawing/2014/main" id="{09FBE7C6-B37C-DC85-D7B6-9559B9356C53}"/>
              </a:ext>
            </a:extLst>
          </p:cNvPr>
          <p:cNvGrpSpPr/>
          <p:nvPr/>
        </p:nvGrpSpPr>
        <p:grpSpPr>
          <a:xfrm>
            <a:off x="1219200" y="1654310"/>
            <a:ext cx="14325599" cy="6951707"/>
            <a:chOff x="-667353" y="-5498560"/>
            <a:chExt cx="18691029" cy="9529083"/>
          </a:xfrm>
        </p:grpSpPr>
        <p:sp>
          <p:nvSpPr>
            <p:cNvPr id="10" name="TextBox 10">
              <a:extLst>
                <a:ext uri="{FF2B5EF4-FFF2-40B4-BE49-F238E27FC236}">
                  <a16:creationId xmlns:a16="http://schemas.microsoft.com/office/drawing/2014/main" id="{F152DCCA-D139-413F-26C4-2E680F937D57}"/>
                </a:ext>
              </a:extLst>
            </p:cNvPr>
            <p:cNvSpPr txBox="1"/>
            <p:nvPr/>
          </p:nvSpPr>
          <p:spPr>
            <a:xfrm>
              <a:off x="-667353" y="-3460635"/>
              <a:ext cx="9268695" cy="7491158"/>
            </a:xfrm>
            <a:prstGeom prst="rect">
              <a:avLst/>
            </a:prstGeom>
          </p:spPr>
          <p:txBody>
            <a:bodyPr wrap="square" lIns="0" tIns="0" rIns="0" bIns="0" rtlCol="0" anchor="t">
              <a:spAutoFit/>
            </a:bodyPr>
            <a:lstStyle/>
            <a:p>
              <a:pPr marL="0" lvl="0" indent="0" algn="ctr">
                <a:lnSpc>
                  <a:spcPts val="2940"/>
                </a:lnSpc>
                <a:spcBef>
                  <a:spcPct val="0"/>
                </a:spcBef>
              </a:pPr>
              <a:endParaRPr lang="en-US" sz="2100" dirty="0">
                <a:solidFill>
                  <a:srgbClr val="EEF3FE"/>
                </a:solidFill>
                <a:latin typeface="DM Sans"/>
                <a:ea typeface="DM Sans"/>
                <a:cs typeface="DM Sans"/>
                <a:sym typeface="DM Sans"/>
              </a:endParaRPr>
            </a:p>
          </p:txBody>
        </p:sp>
        <p:sp>
          <p:nvSpPr>
            <p:cNvPr id="11" name="TextBox 11">
              <a:extLst>
                <a:ext uri="{FF2B5EF4-FFF2-40B4-BE49-F238E27FC236}">
                  <a16:creationId xmlns:a16="http://schemas.microsoft.com/office/drawing/2014/main" id="{583242F7-DDC4-C368-1298-CE09C2B2DDF8}"/>
                </a:ext>
              </a:extLst>
            </p:cNvPr>
            <p:cNvSpPr txBox="1"/>
            <p:nvPr/>
          </p:nvSpPr>
          <p:spPr>
            <a:xfrm>
              <a:off x="-372977" y="-5498560"/>
              <a:ext cx="18396653" cy="660723"/>
            </a:xfrm>
            <a:prstGeom prst="rect">
              <a:avLst/>
            </a:prstGeom>
          </p:spPr>
          <p:txBody>
            <a:bodyPr wrap="square" lIns="0" tIns="0" rIns="0" bIns="0" rtlCol="0" anchor="t">
              <a:spAutoFit/>
            </a:bodyPr>
            <a:lstStyle/>
            <a:p>
              <a:pPr algn="ctr">
                <a:lnSpc>
                  <a:spcPts val="3919"/>
                </a:lnSpc>
                <a:spcBef>
                  <a:spcPct val="0"/>
                </a:spcBef>
              </a:pPr>
              <a:r>
                <a:rPr lang="en-US" sz="2799" b="1" dirty="0">
                  <a:solidFill>
                    <a:srgbClr val="EEF3FE"/>
                  </a:solidFill>
                  <a:latin typeface="DM Sans Bold"/>
                  <a:sym typeface="DM Sans Bold"/>
                </a:rPr>
                <a:t>Reference Material Producer</a:t>
              </a:r>
            </a:p>
          </p:txBody>
        </p:sp>
      </p:grpSp>
    </p:spTree>
    <p:extLst>
      <p:ext uri="{BB962C8B-B14F-4D97-AF65-F5344CB8AC3E}">
        <p14:creationId xmlns:p14="http://schemas.microsoft.com/office/powerpoint/2010/main" val="2873473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2295A"/>
        </a:solidFill>
        <a:effectLst/>
      </p:bgPr>
    </p:bg>
    <p:spTree>
      <p:nvGrpSpPr>
        <p:cNvPr id="1" name=""/>
        <p:cNvGrpSpPr/>
        <p:nvPr/>
      </p:nvGrpSpPr>
      <p:grpSpPr>
        <a:xfrm>
          <a:off x="0" y="0"/>
          <a:ext cx="0" cy="0"/>
          <a:chOff x="0" y="0"/>
          <a:chExt cx="0" cy="0"/>
        </a:xfrm>
      </p:grpSpPr>
      <p:sp>
        <p:nvSpPr>
          <p:cNvPr id="2" name="Freeform 2"/>
          <p:cNvSpPr/>
          <p:nvPr/>
        </p:nvSpPr>
        <p:spPr>
          <a:xfrm>
            <a:off x="0" y="0"/>
            <a:ext cx="11698348" cy="10287000"/>
          </a:xfrm>
          <a:custGeom>
            <a:avLst/>
            <a:gdLst/>
            <a:ahLst/>
            <a:cxnLst/>
            <a:rect l="l" t="t" r="r" b="b"/>
            <a:pathLst>
              <a:path w="11698348" h="10287000">
                <a:moveTo>
                  <a:pt x="0" y="0"/>
                </a:moveTo>
                <a:lnTo>
                  <a:pt x="11698348" y="0"/>
                </a:lnTo>
                <a:lnTo>
                  <a:pt x="11698348" y="10287000"/>
                </a:lnTo>
                <a:lnTo>
                  <a:pt x="0" y="10287000"/>
                </a:lnTo>
                <a:lnTo>
                  <a:pt x="0" y="0"/>
                </a:lnTo>
                <a:close/>
              </a:path>
            </a:pathLst>
          </a:custGeom>
          <a:blipFill>
            <a:blip r:embed="rId2"/>
            <a:stretch>
              <a:fillRect l="-1111" t="-16247" r="-1111"/>
            </a:stretch>
          </a:blipFill>
        </p:spPr>
        <p:txBody>
          <a:bodyPr/>
          <a:lstStyle/>
          <a:p>
            <a:endParaRPr lang="en-ZA"/>
          </a:p>
        </p:txBody>
      </p:sp>
      <p:sp>
        <p:nvSpPr>
          <p:cNvPr id="3" name="TextBox 3"/>
          <p:cNvSpPr txBox="1"/>
          <p:nvPr/>
        </p:nvSpPr>
        <p:spPr>
          <a:xfrm>
            <a:off x="12644222" y="3762375"/>
            <a:ext cx="4615078" cy="2752725"/>
          </a:xfrm>
          <a:prstGeom prst="rect">
            <a:avLst/>
          </a:prstGeom>
        </p:spPr>
        <p:txBody>
          <a:bodyPr lIns="0" tIns="0" rIns="0" bIns="0" rtlCol="0" anchor="t">
            <a:spAutoFit/>
          </a:bodyPr>
          <a:lstStyle/>
          <a:p>
            <a:pPr marL="0" lvl="0" indent="0" algn="l">
              <a:lnSpc>
                <a:spcPts val="10800"/>
              </a:lnSpc>
              <a:spcBef>
                <a:spcPct val="0"/>
              </a:spcBef>
            </a:pPr>
            <a:r>
              <a:rPr lang="en-US" sz="9000" b="1">
                <a:solidFill>
                  <a:srgbClr val="EEF3FE"/>
                </a:solidFill>
                <a:latin typeface="DM Sans Bold"/>
                <a:ea typeface="DM Sans Bold"/>
                <a:cs typeface="DM Sans Bold"/>
                <a:sym typeface="DM Sa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316</TotalTime>
  <Words>792</Words>
  <Application>Microsoft Office PowerPoint</Application>
  <PresentationFormat>Custom</PresentationFormat>
  <Paragraphs>91</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 Black</vt:lpstr>
      <vt:lpstr>DM Sans Bold</vt:lpstr>
      <vt:lpstr>DM Sans</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Chemistry Unleashed</dc:title>
  <dc:creator>Nonhlanhla Msibi</dc:creator>
  <cp:lastModifiedBy>Sifiso Nyambi</cp:lastModifiedBy>
  <cp:revision>6</cp:revision>
  <dcterms:created xsi:type="dcterms:W3CDTF">2006-08-16T00:00:00Z</dcterms:created>
  <dcterms:modified xsi:type="dcterms:W3CDTF">2025-08-21T07:24:10Z</dcterms:modified>
  <dc:identifier>DAGwZ_y_CHE</dc:identifier>
</cp:coreProperties>
</file>